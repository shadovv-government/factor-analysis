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fntdata" ContentType="application/x-fontdata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7b80c7b94d4fda" /><Relationship Type="http://schemas.openxmlformats.org/officeDocument/2006/relationships/extended-properties" Target="/docProps/app.xml" Id="R7f644064fa0f45d2" /><Relationship Type="http://schemas.openxmlformats.org/officeDocument/2006/relationships/officeDocument" Target="/ppt/presentation.xml" Id="R8bdf252791b84a67" /></Relationships>
</file>

<file path=ppt/presentation.xml><?xml version="1.0" encoding="utf-8"?>
<p:presentation xmlns:p="http://schemas.openxmlformats.org/presentationml/2006/main" xmlns:r="http://schemas.openxmlformats.org/officeDocument/2006/relationships" embedTrueTypeFonts="1" saveSubsetFonts="0">
  <p:sldMasterIdLst>
    <p:sldMasterId id="2147483648" r:id="R283a831d5d644473"/>
  </p:sldMasterIdLst>
  <p:notesMasterIdLst>
    <p:notesMasterId r:id="Rc93c61c619be4b5f"/>
  </p:notesMasterIdLst>
  <p:sldIdLst>
    <p:sldId id="256" r:id="R60eb5ba52246445e"/>
    <p:sldId id="257" r:id="Re30b55d554b84a4c"/>
    <p:sldId id="258" r:id="Rb58cec64d7a24f60"/>
    <p:sldId id="259" r:id="R208b43f337934896"/>
    <p:sldId id="260" r:id="Rfd6ef181e4734b10"/>
    <p:sldId id="261" r:id="R8ed5a5f0cc21480b"/>
    <p:sldId id="262" r:id="R7f712c9bbe92432b"/>
    <p:sldId id="263" r:id="R920636d2be084b54"/>
    <p:sldId id="264" r:id="R3b99f24ed1844626"/>
    <p:sldId id="265" r:id="Rdc487b946e5f4cfd"/>
    <p:sldId id="266" r:id="R0c33d7a052624934"/>
    <p:sldId id="267" r:id="R07fa953df1ae49d8"/>
    <p:sldId id="268" r:id="R6653703157fa443b"/>
    <p:sldId id="269" r:id="R2dd1227c0cfa4832"/>
  </p:sldIdLst>
  <p:sldSz cx="12192000" cy="6858000"/>
  <p:notesSz cx="6858000" cy="9144000"/>
  <p:embeddedFontLst>
    <p:embeddedFont>
      <p:font typeface="ALS Gorizont 2.1 Expanded" pitchFamily="34" charset="0"/>
      <p:regular r:id="rIdEmbeddedFont1"/>
    </p:embeddedFont>
    <p:embeddedFont>
      <p:font typeface="ALS Hauss" pitchFamily="34" charset="0"/>
      <p:regular r:id="rIdEmbeddedFont2"/>
    </p:embeddedFont>
    <p:embeddedFont>
      <p:font typeface="Cambria Math" pitchFamily="18" charset="0"/>
      <p:regular r:id="rIdMathFont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31d361851ffc45d4" /><Relationship Type="http://schemas.openxmlformats.org/officeDocument/2006/relationships/slideMaster" Target="/ppt/slideMasters/slideMaster1.xml" Id="R283a831d5d644473" /><Relationship Type="http://schemas.openxmlformats.org/officeDocument/2006/relationships/notesMaster" Target="/ppt/notesMasters/notesMaster1.xml" Id="Rc93c61c619be4b5f" /><Relationship Type="http://schemas.openxmlformats.org/officeDocument/2006/relationships/presProps" Target="/ppt/presProps.xml" Id="R51832230ee3e43b1" /><Relationship Type="http://schemas.openxmlformats.org/officeDocument/2006/relationships/tableStyles" Target="/ppt/tableStyles.xml" Id="Rc9d75215aac24e4f" /><Relationship Type="http://schemas.openxmlformats.org/officeDocument/2006/relationships/slide" Target="/ppt/slides/slide1.xml" Id="R60eb5ba52246445e" /><Relationship Type="http://schemas.openxmlformats.org/officeDocument/2006/relationships/slide" Target="/ppt/slides/slide2.xml" Id="Re30b55d554b84a4c" /><Relationship Type="http://schemas.openxmlformats.org/officeDocument/2006/relationships/slide" Target="/ppt/slides/slide3.xml" Id="Rb58cec64d7a24f60" /><Relationship Type="http://schemas.openxmlformats.org/officeDocument/2006/relationships/slide" Target="/ppt/slides/slide4.xml" Id="R208b43f337934896" /><Relationship Type="http://schemas.openxmlformats.org/officeDocument/2006/relationships/slide" Target="/ppt/slides/slide5.xml" Id="Rfd6ef181e4734b10" /><Relationship Type="http://schemas.openxmlformats.org/officeDocument/2006/relationships/slide" Target="/ppt/slides/slide6.xml" Id="R8ed5a5f0cc21480b" /><Relationship Type="http://schemas.openxmlformats.org/officeDocument/2006/relationships/slide" Target="/ppt/slides/slide7.xml" Id="R7f712c9bbe92432b" /><Relationship Type="http://schemas.openxmlformats.org/officeDocument/2006/relationships/slide" Target="/ppt/slides/slide8.xml" Id="R920636d2be084b54" /><Relationship Type="http://schemas.openxmlformats.org/officeDocument/2006/relationships/slide" Target="/ppt/slides/slide9.xml" Id="R3b99f24ed1844626" /><Relationship Type="http://schemas.openxmlformats.org/officeDocument/2006/relationships/slide" Target="/ppt/slides/slide10.xml" Id="Rdc487b946e5f4cfd" /><Relationship Type="http://schemas.openxmlformats.org/officeDocument/2006/relationships/slide" Target="/ppt/slides/slide11.xml" Id="R0c33d7a052624934" /><Relationship Type="http://schemas.openxmlformats.org/officeDocument/2006/relationships/slide" Target="/ppt/slides/slide12.xml" Id="R07fa953df1ae49d8" /><Relationship Type="http://schemas.openxmlformats.org/officeDocument/2006/relationships/slide" Target="/ppt/slides/slide13.xml" Id="R6653703157fa443b" /><Relationship Type="http://schemas.openxmlformats.org/officeDocument/2006/relationships/slide" Target="/ppt/slides/slide14.xml" Id="R2dd1227c0cfa4832" /><Relationship Id="rIdEmbeddedFont1" Type="http://schemas.openxmlformats.org/officeDocument/2006/relationships/font" Target="fonts/font1.fntdata" /><Relationship Id="rIdEmbeddedFont2" Type="http://schemas.openxmlformats.org/officeDocument/2006/relationships/font" Target="fonts/font2.fntdata" /><Relationship Id="rIdMathFont" Type="http://schemas.openxmlformats.org/officeDocument/2006/relationships/font" Target="fonts/font3.fntdat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2db69c1c604c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6f84bebca64463" /><Relationship Type="http://schemas.openxmlformats.org/officeDocument/2006/relationships/notesMaster" Target="/ppt/notesMasters/notesMaster1.xml" Id="R84917c1f035f46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a053263db040ea" /><Relationship Type="http://schemas.openxmlformats.org/officeDocument/2006/relationships/notesMaster" Target="/ppt/notesMasters/notesMaster1.xml" Id="R4a8e39b082f744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88393263684dc2" /><Relationship Type="http://schemas.openxmlformats.org/officeDocument/2006/relationships/notesMaster" Target="/ppt/notesMasters/notesMaster1.xml" Id="R59690c0fd1e242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9e85a344714d70" /><Relationship Type="http://schemas.openxmlformats.org/officeDocument/2006/relationships/notesMaster" Target="/ppt/notesMasters/notesMaster1.xml" Id="R7af3380b725a40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a1edb7603a4f53" /><Relationship Type="http://schemas.openxmlformats.org/officeDocument/2006/relationships/notesMaster" Target="/ppt/notesMasters/notesMaster1.xml" Id="R40b76c1307b24e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045cc3d3184dc2" /><Relationship Type="http://schemas.openxmlformats.org/officeDocument/2006/relationships/notesMaster" Target="/ppt/notesMasters/notesMaster1.xml" Id="Rc0073884788c4c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2276449c8640ef" /><Relationship Type="http://schemas.openxmlformats.org/officeDocument/2006/relationships/notesMaster" Target="/ppt/notesMasters/notesMaster1.xml" Id="R92920007886c4a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f76bbceac34d47" /><Relationship Type="http://schemas.openxmlformats.org/officeDocument/2006/relationships/notesMaster" Target="/ppt/notesMasters/notesMaster1.xml" Id="Rbbe602b2047b46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f030a5c68440cd" /><Relationship Type="http://schemas.openxmlformats.org/officeDocument/2006/relationships/notesMaster" Target="/ppt/notesMasters/notesMaster1.xml" Id="R21c616f559cb4e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188840c1a4451f" /><Relationship Type="http://schemas.openxmlformats.org/officeDocument/2006/relationships/notesMaster" Target="/ppt/notesMasters/notesMaster1.xml" Id="R9bed58ce93484c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d1b24781594108" /><Relationship Type="http://schemas.openxmlformats.org/officeDocument/2006/relationships/notesMaster" Target="/ppt/notesMasters/notesMaster1.xml" Id="Ra8320289f7004d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d864ebb6544b84" /><Relationship Type="http://schemas.openxmlformats.org/officeDocument/2006/relationships/notesMaster" Target="/ppt/notesMasters/notesMaster1.xml" Id="R755bb9881b1340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dd414b371d40b3" /><Relationship Type="http://schemas.openxmlformats.org/officeDocument/2006/relationships/notesMaster" Target="/ppt/notesMasters/notesMaster1.xml" Id="R262398f21bd248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50864f439e4674" /><Relationship Type="http://schemas.openxmlformats.org/officeDocument/2006/relationships/notesMaster" Target="/ppt/notesMasters/notesMaster1.xml" Id="R41a454fd2b2e4a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спринт посвящён воспроизводимой расчётной базе: денежным потокам и приведённой стоимости одной сделки. Название команды: «Теневое Правительство». Тема части общего кейса: факторный анализ изменения Economic Capital.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outputs/sprint1_20261009/report.md; outputs/sprint1_20261009/calculation.json.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Общий кейс состоит из калькулятора потоков, сценарной оценки Economic Capital и факторного анализа. Наша часть относится к третьему направлению. В этом спринте подготовлено расчётное основание; нелинейное факторное разложение, портфельные сценарии и LLM-интерпретация ещё не реализованы. ARIMAX рассматривается как соседний прогнозный блок.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Кейс 01 — Эконом Капитал. Калькулятор.docx; Постановка_задачи_Часть2_Economic_Capital.docx; Постановка_задачи_Часть3_факторный_анализ_Economic_Capital.docx; Постановка_задачи_ARIMAX_Выдача_кредитов_ФЛ.docx.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пять задач из сообщения о первом спринте обеспечены материалами. Под C++ здесь понимается предложение границ модуля и заголовочный файл с типами и сигнатурами, а не исполняемая реализация.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что надо сделать.jpg; outputs/sprint1_20261009/report.md; contracts/README.md; docs/cpp-module.md.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Сумма — известный остаток на 31 августа 2022 года. Прошлые потоки не восстанавливаются. Календарь не корректируется по выходным. ACT/365F использует фактическое число дней, включая високосный день, при знаменателе 365. Дисконтная ставка равна 7,5% только в базовом учебном примере, рыночная кривая не предоставлена.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outputs/sprint1_20261009/report.md; outputs/sprint1_20261009/calculation.json.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 — процентная ставка конкретного интервала, D — накопленный коэффициент для расчёта аннуитета. Проценты первого периода: ROUND(3 646 037,89 × 0,075 × 22 / 365, 2) = 16 482,09. Тело: 26 003,20 − 16 482,09 = 9 521,11. Остаток: 3 646 037,89 − 9 521,11 = 3 636 516,78. Второй интервал содержит 30 дней, поэтому процентная часть больше. Финальный платёж включает весь оставшийся долг и проценты за 24 дня.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outputs/sprint1_20261009/report.md; outputs/sprint1_20261009/calculation.json.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три типа рассчитаны при одном долге, ставке и календаре. ANN: последний платёж корректируется для полного погашения. SIMPLE: финальная сумма включает тело 3 646 037,89 RUB и 17 980,46 RUB процентов. RGM: регулярное тело 10 916,28 RUB, финальное тело 10 916,65 RUB; последний общий платёж 10 970,49 RUB. Из-за разной длины месяцев проценты могут локально колебаться.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outputs/sprint1_20261009/report.md; outputs/sprint1_20261009/calculation.json.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График построен по всем 334 платежам и исходному остатку. SIMPLE сохраняет основной долг до финального платежа. RGM снижает долг почти линейно за счёт равного тела. ANN погашает тело медленнее в начале и быстрее в конце. Линии используют полный расчёт без исключения последнего платежа.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outputs/sprint1_20261009/report.md; outputs/sprint1_20261009/calculation.json.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Точные номинальные суммы процентов: ANN 5 039 033,17 RUB; SIMPLE 7 604 236,54 RUB; RGM 3 812 984,12 RUB. График показывает весь оставшийся срок после даты оценки. Более раннее погашение тела уменьшает базу начисления процентов. Различие номинальных сумм само по себе не означает различие PV.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outputs/sprint1_20261009/report.md; outputs/sprint1_20261009/calculation.json.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Дисконтная ставка задаётся независимо от кредитной, но в базовом примере обе равны 7,5%. Последовательное дисконтирование по простой ставке каждого фактического интервала отличается от эффективной годовой ставки и обычного XNPV. Без округления Cᵢ = Bᵢ₋₁(1+qᵢ) − Bᵢ; при умножении на Fᵢ сумма телескопируется до B₀ − BₙFₙ. При нулевом финальном остатке PV равна начальному долгу независимо от типа погашения. PV минус текущий долг — диагностическая разница; полный NPV от выдачи и Economic Capital в спринте не вычислялись.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outputs/sprint1_20261009/report.md; outputs/sprint1_20261009/calculation.json.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Контракт описан JSON Schema. Запрос отдельно передаёт параметры сделки и параметры дисконтирования. Ответ содержит все 1002 платежные строки, численные итоги, методологию, допущения и проверки. Десятичные строки сохраняют точное представление денежных величин при передаче между языками. Полный пример ответа: calculation.json.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contracts/request.schema.json; contracts/response.schema.json; contracts/request.example.json; outputs/sprint1_20261009/calculation.json.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конвейер C++: validate → build_payment_dates → build_schedule → discount → summarize → check. Ядро не читает Excel и не обращается к LLM. В заголовке cashflows.hpp определены типы и сигнатуры. Проверено соответствие синтаксису C++17, но исполняемое ядро C++ не реализовано. Рабочий расчётный прототип реализован на Python с Decimal.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cpp/cashflows.hpp; cpp/interface_check.cpp; docs/cpp-module.md; sprint1/model.py.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 теста проверяют базовый расчёт, нулевую ставку, високосный год, календарь конца месяца, короткий последний период, HALF_UP, малый долг, недопустимые входы и независимость дисконтной ставки. 14 737 сравнений выполнено с сохранёнными численными значениями двух исходных книг: 334 строки исходного ANN и 1002 строки второго файла. Все расхождения в заявленных допусках равны нулю. Это сверка сохранённых значений источников; оригинальные файлы не пересчитывались в установленном Microsoft Excel. Сумма тела каждого графика равна начальному долгу.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outputs/sprint1_20261009/verification.json; outputs/sprint1_20261009/test_results.txt; tests/.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Пакет первого спринта содержит Excel на пять листов, полные CSV и JSON, расчётный код Python, 23 теста, схемы контракта, проект интерфейса C++, отчёт, графики и результаты сверок. Исходные файлы сохранены без изменений.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outputs/sprint1_20261009/completion.json; outputs/sprint1_20261009/sprint1_bundle.zip;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Следующие направления перечислены как план, а не результаты первого спринта. Для универсального факторного анализа нужны изменения за несколько периодов, портфель и дополнительные факторы. Далее требуется согласовать рыночное дисконтирование и сценарии, реализовать разложение вкладов и взаимодействий, проверить устойчивость. LLM должен объяснять численные результаты отдельного расчётного модуля. В текущей версии не реализованы рыночная кривая, портфельный EC, нелинейный факторный анализ или ARIMAX.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Постановка_задачи_Часть3_факторный_анализ_Economic_Capital.docx; outputs/sprint1_20261009/report.md.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013b8a6e54a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d2b91f6d948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9fcda34cd40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5f554ac4347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35691920c4e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c677d37e449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2921E1-0DB2-4248-9054-06D3E8B4D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2AFC31-B840-40A7-8A6C-F88ED8B517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75136D-7D52-4E69-BD6B-7B9634AD47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998439-572D-4C86-ADAF-FF67C9C99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5BE420-313C-4F12-998F-27C4CB032B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BC3426-C52A-476A-9CBF-CD270756F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BFC7B5-6C55-459D-A70F-A9758217FA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A5E1A5-CFC6-4AD3-BA5C-57D4F595FE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EA9C45-07FB-43E4-8D93-3E579CC6D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206430-FD58-4A5B-A67E-0E76A5E38F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3dfa42b1c44502" /><Relationship Type="http://schemas.openxmlformats.org/officeDocument/2006/relationships/slideLayout" Target="/ppt/slideLayouts/slideLayout1.xml" Id="R36d506c0624e4e8c" /><Relationship Type="http://schemas.openxmlformats.org/officeDocument/2006/relationships/slideLayout" Target="/ppt/slideLayouts/slideLayout2.xml" Id="Rb4a939cb678f4024" /><Relationship Type="http://schemas.openxmlformats.org/officeDocument/2006/relationships/slideLayout" Target="/ppt/slideLayouts/slideLayout3.xml" Id="R3c8df7030ab24c6d" /><Relationship Type="http://schemas.openxmlformats.org/officeDocument/2006/relationships/slideLayout" Target="/ppt/slideLayouts/slideLayout4.xml" Id="Rfb744b8208374ecf" /><Relationship Type="http://schemas.openxmlformats.org/officeDocument/2006/relationships/slideLayout" Target="/ppt/slideLayouts/slideLayout5.xml" Id="R796a0f6426dd44a1" /><Relationship Type="http://schemas.openxmlformats.org/officeDocument/2006/relationships/slideLayout" Target="/ppt/slideLayouts/slideLayout6.xml" Id="R63dba9f4b82245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d506c0624e4e8c"/>
    <p:sldLayoutId xmlns:r="http://schemas.openxmlformats.org/officeDocument/2006/relationships" id="2147483650" r:id="Rb4a939cb678f4024"/>
    <p:sldLayoutId xmlns:r="http://schemas.openxmlformats.org/officeDocument/2006/relationships" id="2147483651" r:id="R3c8df7030ab24c6d"/>
    <p:sldLayoutId xmlns:r="http://schemas.openxmlformats.org/officeDocument/2006/relationships" id="2147483652" r:id="Rfb744b8208374ecf"/>
    <p:sldLayoutId xmlns:r="http://schemas.openxmlformats.org/officeDocument/2006/relationships" id="2147483653" r:id="R796a0f6426dd44a1"/>
    <p:sldLayoutId xmlns:r="http://schemas.openxmlformats.org/officeDocument/2006/relationships" id="2147483654" r:id="R63dba9f4b82245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4abb4ceb04cd5" /><Relationship Type="http://schemas.openxmlformats.org/officeDocument/2006/relationships/image" Target="/ppt/media/image.png" Id="Rad89d2734d624130" /><Relationship Type="http://schemas.openxmlformats.org/officeDocument/2006/relationships/notesSlide" Target="/ppt/notesSlides/notesSlide1.xml" Id="R0194059e487540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b89df9be94092" /><Relationship Type="http://schemas.openxmlformats.org/officeDocument/2006/relationships/notesSlide" Target="/ppt/notesSlides/notesSlide2.xml" Id="R232f8258e1e64f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6b35295478462d" /><Relationship Type="http://schemas.openxmlformats.org/officeDocument/2006/relationships/image" Target="/ppt/media/image2.png" Id="R8c3a8173ccf44635" /><Relationship Type="http://schemas.openxmlformats.org/officeDocument/2006/relationships/notesSlide" Target="/ppt/notesSlides/notesSlide3.xml" Id="R11eaf53c2c3d45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08f5f907848a6" /><Relationship Type="http://schemas.openxmlformats.org/officeDocument/2006/relationships/image" Target="/ppt/media/image3.png" Id="R8b40ad11f2e547a6" /><Relationship Type="http://schemas.openxmlformats.org/officeDocument/2006/relationships/notesSlide" Target="/ppt/notesSlides/notesSlide4.xml" Id="R142117d5d02343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cb9f4888b476a" /><Relationship Type="http://schemas.openxmlformats.org/officeDocument/2006/relationships/image" Target="/ppt/media/image4.png" Id="Re0a43e9b71234c21" /><Relationship Type="http://schemas.openxmlformats.org/officeDocument/2006/relationships/notesSlide" Target="/ppt/notesSlides/notesSlide5.xml" Id="R6a2abaf6c70e48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8a5b220744ba8" /><Relationship Type="http://schemas.openxmlformats.org/officeDocument/2006/relationships/image" Target="/ppt/media/image5.png" Id="Rc683537fec5c4890" /><Relationship Type="http://schemas.openxmlformats.org/officeDocument/2006/relationships/image" Target="/ppt/media/image6.png" Id="Re148b2c2a14b4807" /><Relationship Type="http://schemas.openxmlformats.org/officeDocument/2006/relationships/image" Target="/ppt/media/image7.png" Id="R79cfe7b760a4459e" /><Relationship Type="http://schemas.openxmlformats.org/officeDocument/2006/relationships/notesSlide" Target="/ppt/notesSlides/notesSlide6.xml" Id="R2cd712084edc44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46e1147554263" /><Relationship Type="http://schemas.openxmlformats.org/officeDocument/2006/relationships/chart" Target="/ppt/slides/charts/chart1.xml" Id="R0086772181a347da" /><Relationship Type="http://schemas.openxmlformats.org/officeDocument/2006/relationships/notesSlide" Target="/ppt/notesSlides/notesSlide7.xml" Id="Rbbce6586801841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01cb3400e4784" /><Relationship Type="http://schemas.openxmlformats.org/officeDocument/2006/relationships/chart" Target="/ppt/slides/charts/chart2.xml" Id="R6f8053738413424d" /><Relationship Type="http://schemas.openxmlformats.org/officeDocument/2006/relationships/notesSlide" Target="/ppt/notesSlides/notesSlide8.xml" Id="Rde26b4d97f734b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c8aaf27574ec0" /><Relationship Type="http://schemas.openxmlformats.org/officeDocument/2006/relationships/image" Target="/ppt/media/image8.png" Id="R4b2ae8b202484049" /><Relationship Type="http://schemas.openxmlformats.org/officeDocument/2006/relationships/notesSlide" Target="/ppt/notesSlides/notesSlide9.xml" Id="R7f84f236b9ef45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e16d2c6d544d6" /><Relationship Type="http://schemas.openxmlformats.org/officeDocument/2006/relationships/image" Target="/ppt/media/image9.png" Id="R8b0211b4375c424c" /><Relationship Type="http://schemas.openxmlformats.org/officeDocument/2006/relationships/notesSlide" Target="/ppt/notesSlides/notesSlide10.xml" Id="Rf3c9f38a34fb4e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7b4289986642fb" /><Relationship Type="http://schemas.openxmlformats.org/officeDocument/2006/relationships/image" Target="/ppt/media/image10.png" Id="R1db68a0da5494d8c" /><Relationship Type="http://schemas.openxmlformats.org/officeDocument/2006/relationships/notesSlide" Target="/ppt/notesSlides/notesSlide11.xml" Id="R04b0d627e7e144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8effce20843d3" /><Relationship Type="http://schemas.openxmlformats.org/officeDocument/2006/relationships/image" Target="/ppt/media/image11.png" Id="R8784d0f301454b28" /><Relationship Type="http://schemas.openxmlformats.org/officeDocument/2006/relationships/notesSlide" Target="/ppt/notesSlides/notesSlide12.xml" Id="R535563ac4fbb45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e3f1ed8234e50" /><Relationship Type="http://schemas.openxmlformats.org/officeDocument/2006/relationships/image" Target="/ppt/media/image12.png" Id="Ra34e2ff48c0f416c" /><Relationship Type="http://schemas.openxmlformats.org/officeDocument/2006/relationships/notesSlide" Target="/ppt/notesSlides/notesSlide13.xml" Id="Rcb59a40775964d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661115d9b4418" /><Relationship Type="http://schemas.openxmlformats.org/officeDocument/2006/relationships/image" Target="/ppt/media/image13.png" Id="Ra0ff81aa8e2747b1" /><Relationship Type="http://schemas.openxmlformats.org/officeDocument/2006/relationships/notesSlide" Target="/ppt/notesSlides/notesSlide14.xml" Id="R80679e6bf73541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ANN</c:v>
          </c:tx>
          <c:spPr>
            <a:ln xmlns:a="http://schemas.openxmlformats.org/drawingml/2006/main" w="38100">
              <a:solidFill>
                <a:srgbClr val="3957C7"/>
              </a:solidFill>
              <a:prstDash val="solid"/>
            </a:ln>
          </c:spPr>
          <c:marker>
            <c:symbol val="none"/>
          </c:marker>
          <c:xVal>
            <c:numRef>
              <c:f>'Chart Data'!$A$2:$A$336</c:f>
              <c:numCache>
                <c:formatCode>General</c:formatCode>
                <c:ptCount val="33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</c:numCache>
            </c:numRef>
          </c:xVal>
          <c:yVal>
            <c:numRef>
              <c:f>'Chart Data'!$B$2:$B$336</c:f>
              <c:numCache>
                <c:formatCode>0.0</c:formatCode>
                <c:ptCount val="335"/>
                <c:pt idx="0">
                  <c:v>3.64603789</c:v>
                </c:pt>
                <c:pt idx="1">
                  <c:v>3.63651678</c:v>
                </c:pt>
                <c:pt idx="2">
                  <c:v>3.63293046</c:v>
                </c:pt>
                <c:pt idx="3">
                  <c:v>3.63006853</c:v>
                </c:pt>
                <c:pt idx="4">
                  <c:v>3.62644246</c:v>
                </c:pt>
                <c:pt idx="5">
                  <c:v>3.6235392</c:v>
                </c:pt>
                <c:pt idx="6">
                  <c:v>3.62061745</c:v>
                </c:pt>
                <c:pt idx="7">
                  <c:v>3.6154452</c:v>
                </c:pt>
                <c:pt idx="8">
                  <c:v>3.61247189</c:v>
                </c:pt>
                <c:pt idx="9">
                  <c:v>3.60873735</c:v>
                </c:pt>
                <c:pt idx="10">
                  <c:v>3.60572131</c:v>
                </c:pt>
                <c:pt idx="11">
                  <c:v>3.60194516</c:v>
                </c:pt>
                <c:pt idx="12">
                  <c:v>3.59888586</c:v>
                </c:pt>
                <c:pt idx="13">
                  <c:v>3.59580707</c:v>
                </c:pt>
                <c:pt idx="14">
                  <c:v>3.5919698</c:v>
                </c:pt>
                <c:pt idx="15">
                  <c:v>3.58884696</c:v>
                </c:pt>
                <c:pt idx="16">
                  <c:v>3.58496679</c:v>
                </c:pt>
                <c:pt idx="17">
                  <c:v>3.58179934</c:v>
                </c:pt>
                <c:pt idx="18">
                  <c:v>3.57861171</c:v>
                </c:pt>
                <c:pt idx="19">
                  <c:v>3.57393311</c:v>
                </c:pt>
                <c:pt idx="20">
                  <c:v>3.57069537</c:v>
                </c:pt>
                <c:pt idx="21">
                  <c:v>3.56670331</c:v>
                </c:pt>
                <c:pt idx="22">
                  <c:v>3.56341952</c:v>
                </c:pt>
                <c:pt idx="23">
                  <c:v>3.5593826</c:v>
                </c:pt>
                <c:pt idx="24">
                  <c:v>3.55605218</c:v>
                </c:pt>
                <c:pt idx="25">
                  <c:v>3.55270055</c:v>
                </c:pt>
                <c:pt idx="26">
                  <c:v>3.54859756</c:v>
                </c:pt>
                <c:pt idx="27">
                  <c:v>3.54519844</c:v>
                </c:pt>
                <c:pt idx="28">
                  <c:v>3.5410492</c:v>
                </c:pt>
                <c:pt idx="29">
                  <c:v>3.537602</c:v>
                </c:pt>
                <c:pt idx="30">
                  <c:v>3.53413284</c:v>
                </c:pt>
                <c:pt idx="31">
                  <c:v>3.52846301</c:v>
                </c:pt>
                <c:pt idx="32">
                  <c:v>3.52493564</c:v>
                </c:pt>
                <c:pt idx="33">
                  <c:v>3.5206615</c:v>
                </c:pt>
                <c:pt idx="34">
                  <c:v>3.51708443</c:v>
                </c:pt>
                <c:pt idx="35">
                  <c:v>3.51276189</c:v>
                </c:pt>
                <c:pt idx="36">
                  <c:v>3.5091345</c:v>
                </c:pt>
                <c:pt idx="37">
                  <c:v>3.50548401</c:v>
                </c:pt>
                <c:pt idx="38">
                  <c:v>3.50108996</c:v>
                </c:pt>
                <c:pt idx="39">
                  <c:v>3.49738822</c:v>
                </c:pt>
                <c:pt idx="40">
                  <c:v>3.49294426</c:v>
                </c:pt>
                <c:pt idx="41">
                  <c:v>3.48919064</c:v>
                </c:pt>
                <c:pt idx="42">
                  <c:v>3.48541311</c:v>
                </c:pt>
                <c:pt idx="43">
                  <c:v>3.47946297</c:v>
                </c:pt>
                <c:pt idx="44">
                  <c:v>3.47562347</c:v>
                </c:pt>
                <c:pt idx="45">
                  <c:v>3.47104535</c:v>
                </c:pt>
                <c:pt idx="46">
                  <c:v>3.46715223</c:v>
                </c:pt>
                <c:pt idx="47">
                  <c:v>3.46252189</c:v>
                </c:pt>
                <c:pt idx="48">
                  <c:v>3.45857448</c:v>
                </c:pt>
                <c:pt idx="49">
                  <c:v>3.45460193</c:v>
                </c:pt>
                <c:pt idx="50">
                  <c:v>3.44989422</c:v>
                </c:pt>
                <c:pt idx="51">
                  <c:v>3.44586637</c:v>
                </c:pt>
                <c:pt idx="52">
                  <c:v>3.44110481</c:v>
                </c:pt>
                <c:pt idx="53">
                  <c:v>3.43702098</c:v>
                </c:pt>
                <c:pt idx="54">
                  <c:v>3.43291113</c:v>
                </c:pt>
                <c:pt idx="55">
                  <c:v>3.42665893</c:v>
                </c:pt>
                <c:pt idx="56">
                  <c:v>3.42248308</c:v>
                </c:pt>
                <c:pt idx="57">
                  <c:v>3.41757738</c:v>
                </c:pt>
                <c:pt idx="58">
                  <c:v>3.41334368</c:v>
                </c:pt>
                <c:pt idx="59">
                  <c:v>3.40838164</c:v>
                </c:pt>
                <c:pt idx="60">
                  <c:v>3.40408936</c:v>
                </c:pt>
                <c:pt idx="61">
                  <c:v>3.39976974</c:v>
                </c:pt>
                <c:pt idx="62">
                  <c:v>3.39472402</c:v>
                </c:pt>
                <c:pt idx="63">
                  <c:v>3.39034475</c:v>
                </c:pt>
                <c:pt idx="64">
                  <c:v>3.38524094</c:v>
                </c:pt>
                <c:pt idx="65">
                  <c:v>3.38080126</c:v>
                </c:pt>
                <c:pt idx="66">
                  <c:v>3.3763333</c:v>
                </c:pt>
                <c:pt idx="67">
                  <c:v>3.37044935</c:v>
                </c:pt>
                <c:pt idx="68">
                  <c:v>3.36591545</c:v>
                </c:pt>
                <c:pt idx="69">
                  <c:v>3.36066104</c:v>
                </c:pt>
                <c:pt idx="70">
                  <c:v>3.35606479</c:v>
                </c:pt>
                <c:pt idx="71">
                  <c:v>3.35074966</c:v>
                </c:pt>
                <c:pt idx="72">
                  <c:v>3.34609028</c:v>
                </c:pt>
                <c:pt idx="73">
                  <c:v>3.34140122</c:v>
                </c:pt>
                <c:pt idx="74">
                  <c:v>3.3359957</c:v>
                </c:pt>
                <c:pt idx="75">
                  <c:v>3.33124234</c:v>
                </c:pt>
                <c:pt idx="76">
                  <c:v>3.3257742</c:v>
                </c:pt>
                <c:pt idx="77">
                  <c:v>3.32095573</c:v>
                </c:pt>
                <c:pt idx="78">
                  <c:v>3.31610656</c:v>
                </c:pt>
                <c:pt idx="79">
                  <c:v>3.30918233</c:v>
                </c:pt>
                <c:pt idx="80">
                  <c:v>3.30425817</c:v>
                </c:pt>
                <c:pt idx="81">
                  <c:v>3.29862368</c:v>
                </c:pt>
                <c:pt idx="82">
                  <c:v>3.29363226</c:v>
                </c:pt>
                <c:pt idx="83">
                  <c:v>3.28793227</c:v>
                </c:pt>
                <c:pt idx="84">
                  <c:v>3.28287275</c:v>
                </c:pt>
                <c:pt idx="85">
                  <c:v>3.277781</c:v>
                </c:pt>
                <c:pt idx="86">
                  <c:v>3.2719833</c:v>
                </c:pt>
                <c:pt idx="87">
                  <c:v>3.26682219</c:v>
                </c:pt>
                <c:pt idx="88">
                  <c:v>3.26095694</c:v>
                </c:pt>
                <c:pt idx="89">
                  <c:v>3.25572559</c:v>
                </c:pt>
                <c:pt idx="90">
                  <c:v>3.25046092</c:v>
                </c:pt>
                <c:pt idx="91">
                  <c:v>3.243159</c:v>
                </c:pt>
                <c:pt idx="92">
                  <c:v>3.23781428</c:v>
                </c:pt>
                <c:pt idx="93">
                  <c:v>3.23177021</c:v>
                </c:pt>
                <c:pt idx="94">
                  <c:v>3.22635294</c:v>
                </c:pt>
                <c:pt idx="95">
                  <c:v>3.22023822</c:v>
                </c:pt>
                <c:pt idx="96">
                  <c:v>3.2147475</c:v>
                </c:pt>
                <c:pt idx="97">
                  <c:v>3.2092218</c:v>
                </c:pt>
                <c:pt idx="98">
                  <c:v>3.20300147</c:v>
                </c:pt>
                <c:pt idx="99">
                  <c:v>3.19740095</c:v>
                </c:pt>
                <c:pt idx="100">
                  <c:v>3.19110776</c:v>
                </c:pt>
                <c:pt idx="101">
                  <c:v>3.18543148</c:v>
                </c:pt>
                <c:pt idx="102">
                  <c:v>3.17971904</c:v>
                </c:pt>
                <c:pt idx="103">
                  <c:v>3.17201011</c:v>
                </c:pt>
                <c:pt idx="104">
                  <c:v>3.16621218</c:v>
                </c:pt>
                <c:pt idx="105">
                  <c:v>3.15972673</c:v>
                </c:pt>
                <c:pt idx="106">
                  <c:v>3.15385056</c:v>
                </c:pt>
                <c:pt idx="107">
                  <c:v>3.1472889</c:v>
                </c:pt>
                <c:pt idx="108">
                  <c:v>3.1413335</c:v>
                </c:pt>
                <c:pt idx="109">
                  <c:v>3.13534016</c:v>
                </c:pt>
                <c:pt idx="110">
                  <c:v>3.1286644</c:v>
                </c:pt>
                <c:pt idx="111">
                  <c:v>3.12259036</c:v>
                </c:pt>
                <c:pt idx="112">
                  <c:v>3.115836</c:v>
                </c:pt>
                <c:pt idx="113">
                  <c:v>3.10968025</c:v>
                </c:pt>
                <c:pt idx="114">
                  <c:v>3.10348529</c:v>
                </c:pt>
                <c:pt idx="115">
                  <c:v>3.09597546</c:v>
                </c:pt>
                <c:pt idx="116">
                  <c:v>3.0896932</c:v>
                </c:pt>
                <c:pt idx="117">
                  <c:v>3.08273605</c:v>
                </c:pt>
                <c:pt idx="118">
                  <c:v>3.07636946</c:v>
                </c:pt>
                <c:pt idx="119">
                  <c:v>3.06933018</c:v>
                </c:pt>
                <c:pt idx="120">
                  <c:v>3.06287819</c:v>
                </c:pt>
                <c:pt idx="121">
                  <c:v>3.0563851</c:v>
                </c:pt>
                <c:pt idx="122">
                  <c:v>3.04922263</c:v>
                </c:pt>
                <c:pt idx="123">
                  <c:v>3.04264256</c:v>
                </c:pt>
                <c:pt idx="124">
                  <c:v>3.03539538</c:v>
                </c:pt>
                <c:pt idx="125">
                  <c:v>3.02872723</c:v>
                </c:pt>
                <c:pt idx="126">
                  <c:v>3.02201661</c:v>
                </c:pt>
                <c:pt idx="127">
                  <c:v>3.01340035</c:v>
                </c:pt>
                <c:pt idx="128">
                  <c:v>3.0065921</c:v>
                </c:pt>
                <c:pt idx="129">
                  <c:v>2.99912269</c:v>
                </c:pt>
                <c:pt idx="130">
                  <c:v>2.99222349</c:v>
                </c:pt>
                <c:pt idx="131">
                  <c:v>2.9846655</c:v>
                </c:pt>
                <c:pt idx="132">
                  <c:v>2.97767421</c:v>
                </c:pt>
                <c:pt idx="133">
                  <c:v>2.97063839</c:v>
                </c:pt>
                <c:pt idx="134">
                  <c:v>2.96294734</c:v>
                </c:pt>
                <c:pt idx="135">
                  <c:v>2.95581771</c:v>
                </c:pt>
                <c:pt idx="136">
                  <c:v>2.9480353</c:v>
                </c:pt>
                <c:pt idx="137">
                  <c:v>2.94081068</c:v>
                </c:pt>
                <c:pt idx="138">
                  <c:v>2.93354004</c:v>
                </c:pt>
                <c:pt idx="139">
                  <c:v>2.92441474</c:v>
                </c:pt>
                <c:pt idx="140">
                  <c:v>2.91703966</c:v>
                </c:pt>
                <c:pt idx="141">
                  <c:v>2.90901821</c:v>
                </c:pt>
                <c:pt idx="142">
                  <c:v>2.90154506</c:v>
                </c:pt>
                <c:pt idx="143">
                  <c:v>2.8934281</c:v>
                </c:pt>
                <c:pt idx="144">
                  <c:v>2.88585564</c:v>
                </c:pt>
                <c:pt idx="145">
                  <c:v>2.87823495</c:v>
                </c:pt>
                <c:pt idx="146">
                  <c:v>2.86997429</c:v>
                </c:pt>
                <c:pt idx="147">
                  <c:v>2.86225243</c:v>
                </c:pt>
                <c:pt idx="148">
                  <c:v>2.85389325</c:v>
                </c:pt>
                <c:pt idx="149">
                  <c:v>2.84606896</c:v>
                </c:pt>
                <c:pt idx="150">
                  <c:v>2.83819483</c:v>
                </c:pt>
                <c:pt idx="151">
                  <c:v>2.82852097</c:v>
                </c:pt>
                <c:pt idx="152">
                  <c:v>2.82053506</c:v>
                </c:pt>
                <c:pt idx="153">
                  <c:v>2.81191872</c:v>
                </c:pt>
                <c:pt idx="154">
                  <c:v>2.80382706</c:v>
                </c:pt>
                <c:pt idx="155">
                  <c:v>2.79510773</c:v>
                </c:pt>
                <c:pt idx="156">
                  <c:v>2.78690898</c:v>
                </c:pt>
                <c:pt idx="157">
                  <c:v>2.77865801</c:v>
                </c:pt>
                <c:pt idx="158">
                  <c:v>2.76978352</c:v>
                </c:pt>
                <c:pt idx="159">
                  <c:v>2.76142346</c:v>
                </c:pt>
                <c:pt idx="160">
                  <c:v>2.75244273</c:v>
                </c:pt>
                <c:pt idx="161">
                  <c:v>2.74397221</c:v>
                </c:pt>
                <c:pt idx="162">
                  <c:v>2.73544774</c:v>
                </c:pt>
                <c:pt idx="163">
                  <c:v>2.72574481</c:v>
                </c:pt>
                <c:pt idx="164">
                  <c:v>2.71710423</c:v>
                </c:pt>
                <c:pt idx="165">
                  <c:v>2.7078503</c:v>
                </c:pt>
                <c:pt idx="166">
                  <c:v>2.69909574</c:v>
                </c:pt>
                <c:pt idx="167">
                  <c:v>2.6897308</c:v>
                </c:pt>
                <c:pt idx="168">
                  <c:v>2.68086082</c:v>
                </c:pt>
                <c:pt idx="169">
                  <c:v>2.67193434</c:v>
                </c:pt>
                <c:pt idx="170">
                  <c:v>2.66240197</c:v>
                </c:pt>
                <c:pt idx="171">
                  <c:v>2.65335791</c:v>
                </c:pt>
                <c:pt idx="172">
                  <c:v>2.64371103</c:v>
                </c:pt>
                <c:pt idx="173">
                  <c:v>2.63454791</c:v>
                </c:pt>
                <c:pt idx="174">
                  <c:v>2.62532642</c:v>
                </c:pt>
                <c:pt idx="175">
                  <c:v>2.61442784</c:v>
                </c:pt>
                <c:pt idx="176">
                  <c:v>2.60507819</c:v>
                </c:pt>
                <c:pt idx="177">
                  <c:v>2.59513369</c:v>
                </c:pt>
                <c:pt idx="178">
                  <c:v>2.58566114</c:v>
                </c:pt>
                <c:pt idx="179">
                  <c:v>2.57559695</c:v>
                </c:pt>
                <c:pt idx="180">
                  <c:v>2.56599995</c:v>
                </c:pt>
                <c:pt idx="181">
                  <c:v>2.55634182</c:v>
                </c:pt>
                <c:pt idx="182">
                  <c:v>2.54609689</c:v>
                </c:pt>
                <c:pt idx="183">
                  <c:v>2.53631198</c:v>
                </c:pt>
                <c:pt idx="184">
                  <c:v>2.52594358</c:v>
                </c:pt>
                <c:pt idx="185">
                  <c:v>2.51603029</c:v>
                </c:pt>
                <c:pt idx="186">
                  <c:v>2.50605386</c:v>
                </c:pt>
                <c:pt idx="187">
                  <c:v>2.49446905</c:v>
                </c:pt>
                <c:pt idx="188">
                  <c:v>2.48435528</c:v>
                </c:pt>
                <c:pt idx="189">
                  <c:v>2.4736666</c:v>
                </c:pt>
                <c:pt idx="190">
                  <c:v>2.46342032</c:v>
                </c:pt>
                <c:pt idx="191">
                  <c:v>2.45260259</c:v>
                </c:pt>
                <c:pt idx="192">
                  <c:v>2.44222213</c:v>
                </c:pt>
                <c:pt idx="193">
                  <c:v>2.43177555</c:v>
                </c:pt>
                <c:pt idx="194">
                  <c:v>2.42076275</c:v>
                </c:pt>
                <c:pt idx="195">
                  <c:v>2.41017948</c:v>
                </c:pt>
                <c:pt idx="196">
                  <c:v>2.39903355</c:v>
                </c:pt>
                <c:pt idx="197">
                  <c:v>2.38831187</c:v>
                </c:pt>
                <c:pt idx="198">
                  <c:v>2.37752189</c:v>
                </c:pt>
                <c:pt idx="199">
                  <c:v>2.36519758</c:v>
                </c:pt>
                <c:pt idx="200">
                  <c:v>2.35426036</c:v>
                </c:pt>
                <c:pt idx="201">
                  <c:v>2.34276972</c:v>
                </c:pt>
                <c:pt idx="202">
                  <c:v>2.33168964</c:v>
                </c:pt>
                <c:pt idx="203">
                  <c:v>2.32005987</c:v>
                </c:pt>
                <c:pt idx="204">
                  <c:v>2.30883513</c:v>
                </c:pt>
                <c:pt idx="205">
                  <c:v>2.29753889</c:v>
                </c:pt>
                <c:pt idx="206">
                  <c:v>2.2856986</c:v>
                </c:pt>
                <c:pt idx="207">
                  <c:v>2.27425499</c:v>
                </c:pt>
                <c:pt idx="208">
                  <c:v>2.26227117</c:v>
                </c:pt>
                <c:pt idx="209">
                  <c:v>2.25067833</c:v>
                </c:pt>
                <c:pt idx="210">
                  <c:v>2.23901164</c:v>
                </c:pt>
                <c:pt idx="211">
                  <c:v>2.2263505</c:v>
                </c:pt>
                <c:pt idx="212">
                  <c:v>2.21452885</c:v>
                </c:pt>
                <c:pt idx="213">
                  <c:v>2.20217686</c:v>
                </c:pt>
                <c:pt idx="214">
                  <c:v>2.19020122</c:v>
                </c:pt>
                <c:pt idx="215">
                  <c:v>2.17769926</c:v>
                </c:pt>
                <c:pt idx="216">
                  <c:v>2.16556771</c:v>
                </c:pt>
                <c:pt idx="217">
                  <c:v>2.15335888</c:v>
                </c:pt>
                <c:pt idx="218">
                  <c:v>2.14062981</c:v>
                </c:pt>
                <c:pt idx="219">
                  <c:v>2.12826213</c:v>
                </c:pt>
                <c:pt idx="220">
                  <c:v>2.11537835</c:v>
                </c:pt>
                <c:pt idx="221">
                  <c:v>2.10284982</c:v>
                </c:pt>
                <c:pt idx="222">
                  <c:v>2.09024149</c:v>
                </c:pt>
                <c:pt idx="223">
                  <c:v>2.07626434</c:v>
                </c:pt>
                <c:pt idx="224">
                  <c:v>2.06348666</c:v>
                </c:pt>
                <c:pt idx="225">
                  <c:v>2.05020358</c:v>
                </c:pt>
                <c:pt idx="226">
                  <c:v>2.0372599</c:v>
                </c:pt>
                <c:pt idx="227">
                  <c:v>2.02381515</c:v>
                </c:pt>
                <c:pt idx="228">
                  <c:v>2.01070338</c:v>
                </c:pt>
                <c:pt idx="229">
                  <c:v>1.99750809</c:v>
                </c:pt>
                <c:pt idx="230">
                  <c:v>1.9838183</c:v>
                </c:pt>
                <c:pt idx="231">
                  <c:v>1.97045175</c:v>
                </c:pt>
                <c:pt idx="232">
                  <c:v>1.95659517</c:v>
                </c:pt>
                <c:pt idx="233">
                  <c:v>1.94305521</c:v>
                </c:pt>
                <c:pt idx="234">
                  <c:v>1.92942901</c:v>
                </c:pt>
                <c:pt idx="235">
                  <c:v>1.91452663</c:v>
                </c:pt>
                <c:pt idx="236">
                  <c:v>1.9007187</c:v>
                </c:pt>
                <c:pt idx="237">
                  <c:v>1.88643226</c:v>
                </c:pt>
                <c:pt idx="238">
                  <c:v>1.87244538</c:v>
                </c:pt>
                <c:pt idx="239">
                  <c:v>1.85798465</c:v>
                </c:pt>
                <c:pt idx="240">
                  <c:v>1.84381656</c:v>
                </c:pt>
                <c:pt idx="241">
                  <c:v>1.82955822</c:v>
                </c:pt>
                <c:pt idx="242">
                  <c:v>1.81483312</c:v>
                </c:pt>
                <c:pt idx="243">
                  <c:v>1.80039016</c:v>
                </c:pt>
                <c:pt idx="244">
                  <c:v>1.78548526</c:v>
                </c:pt>
                <c:pt idx="245">
                  <c:v>1.77085536</c:v>
                </c:pt>
                <c:pt idx="246">
                  <c:v>1.75613227</c:v>
                </c:pt>
                <c:pt idx="247">
                  <c:v>1.74023284</c:v>
                </c:pt>
                <c:pt idx="248">
                  <c:v>1.72531468</c:v>
                </c:pt>
                <c:pt idx="249">
                  <c:v>1.70994698</c:v>
                </c:pt>
                <c:pt idx="250">
                  <c:v>1.69483591</c:v>
                </c:pt>
                <c:pt idx="251">
                  <c:v>1.67928033</c:v>
                </c:pt>
                <c:pt idx="252">
                  <c:v>1.66397392</c:v>
                </c:pt>
                <c:pt idx="253">
                  <c:v>1.64857001</c:v>
                </c:pt>
                <c:pt idx="254">
                  <c:v>1.63272923</c:v>
                </c:pt>
                <c:pt idx="255">
                  <c:v>1.61712629</c:v>
                </c:pt>
                <c:pt idx="256">
                  <c:v>1.60109168</c:v>
                </c:pt>
                <c:pt idx="257">
                  <c:v>1.58528721</c:v>
                </c:pt>
                <c:pt idx="258">
                  <c:v>1.56938207</c:v>
                </c:pt>
                <c:pt idx="259">
                  <c:v>1.55273067</c:v>
                </c:pt>
                <c:pt idx="260">
                  <c:v>1.53661815</c:v>
                </c:pt>
                <c:pt idx="261">
                  <c:v>1.52008725</c:v>
                </c:pt>
                <c:pt idx="262">
                  <c:v>1.5037668</c:v>
                </c:pt>
                <c:pt idx="263">
                  <c:v>1.4870334</c:v>
                </c:pt>
                <c:pt idx="264">
                  <c:v>1.4705024</c:v>
                </c:pt>
                <c:pt idx="265">
                  <c:v>1.4538661</c:v>
                </c:pt>
                <c:pt idx="266">
                  <c:v>1.43682509</c:v>
                </c:pt>
                <c:pt idx="267">
                  <c:v>1.41997427</c:v>
                </c:pt>
                <c:pt idx="268">
                  <c:v>1.40272434</c:v>
                </c:pt>
                <c:pt idx="269">
                  <c:v>1.3856563</c:v>
                </c:pt>
                <c:pt idx="270">
                  <c:v>1.36847954</c:v>
                </c:pt>
                <c:pt idx="271">
                  <c:v>1.35034978</c:v>
                </c:pt>
                <c:pt idx="272">
                  <c:v>1.33294812</c:v>
                </c:pt>
                <c:pt idx="273">
                  <c:v>1.31516172</c:v>
                </c:pt>
                <c:pt idx="274">
                  <c:v>1.29753592</c:v>
                </c:pt>
                <c:pt idx="275">
                  <c:v>1.27953123</c:v>
                </c:pt>
                <c:pt idx="276">
                  <c:v>1.26167847</c:v>
                </c:pt>
                <c:pt idx="277">
                  <c:v>1.24371199</c:v>
                </c:pt>
                <c:pt idx="278">
                  <c:v>1.22537551</c:v>
                </c:pt>
                <c:pt idx="279">
                  <c:v>1.20717778</c:v>
                </c:pt>
                <c:pt idx="280">
                  <c:v>1.18861609</c:v>
                </c:pt>
                <c:pt idx="281">
                  <c:v>1.17018421</c:v>
                </c:pt>
                <c:pt idx="282">
                  <c:v>1.15163492</c:v>
                </c:pt>
                <c:pt idx="283">
                  <c:v>1.13225756</c:v>
                </c:pt>
                <c:pt idx="284">
                  <c:v>1.11346669</c:v>
                </c:pt>
                <c:pt idx="285">
                  <c:v>1.09432733</c:v>
                </c:pt>
                <c:pt idx="286">
                  <c:v>1.07529485</c:v>
                </c:pt>
                <c:pt idx="287">
                  <c:v>1.05592018</c:v>
                </c:pt>
                <c:pt idx="288">
                  <c:v>1.03664305</c:v>
                </c:pt>
                <c:pt idx="289">
                  <c:v>1.01724312</c:v>
                </c:pt>
                <c:pt idx="290">
                  <c:v>0.9975106</c:v>
                </c:pt>
                <c:pt idx="291">
                  <c:v>0.97786141</c:v>
                </c:pt>
                <c:pt idx="292">
                  <c:v>0.95788612</c:v>
                </c:pt>
                <c:pt idx="293">
                  <c:v>0.93798452</c:v>
                </c:pt>
                <c:pt idx="294">
                  <c:v>0.91795615</c:v>
                </c:pt>
                <c:pt idx="295">
                  <c:v>0.89723434</c:v>
                </c:pt>
                <c:pt idx="296">
                  <c:v>0.8769464</c:v>
                </c:pt>
                <c:pt idx="297">
                  <c:v>0.85634903</c:v>
                </c:pt>
                <c:pt idx="298">
                  <c:v>0.83580066</c:v>
                </c:pt>
                <c:pt idx="299">
                  <c:v>0.81494966</c:v>
                </c:pt>
                <c:pt idx="300">
                  <c:v>0.79413758</c:v>
                </c:pt>
                <c:pt idx="301">
                  <c:v>0.77319293</c:v>
                </c:pt>
                <c:pt idx="302">
                  <c:v>0.75195599</c:v>
                </c:pt>
                <c:pt idx="303">
                  <c:v>0.73074265</c:v>
                </c:pt>
                <c:pt idx="304">
                  <c:v>0.70924403</c:v>
                </c:pt>
                <c:pt idx="305">
                  <c:v>0.68775862</c:v>
                </c:pt>
                <c:pt idx="306">
                  <c:v>0.66613635</c:v>
                </c:pt>
                <c:pt idx="307">
                  <c:v>0.64410259</c:v>
                </c:pt>
                <c:pt idx="308">
                  <c:v>0.62220224</c:v>
                </c:pt>
                <c:pt idx="309">
                  <c:v>0.60003453</c:v>
                </c:pt>
                <c:pt idx="310">
                  <c:v>0.57785347</c:v>
                </c:pt>
                <c:pt idx="311">
                  <c:v>0.55541238</c:v>
                </c:pt>
                <c:pt idx="312">
                  <c:v>0.53294708</c:v>
                </c:pt>
                <c:pt idx="313">
                  <c:v>0.51033868</c:v>
                </c:pt>
                <c:pt idx="314">
                  <c:v>0.4874814</c:v>
                </c:pt>
                <c:pt idx="315">
                  <c:v>0.46458339</c:v>
                </c:pt>
                <c:pt idx="316">
                  <c:v>0.44144406</c:v>
                </c:pt>
                <c:pt idx="317">
                  <c:v>0.4182528</c:v>
                </c:pt>
                <c:pt idx="318">
                  <c:v>0.39491381</c:v>
                </c:pt>
                <c:pt idx="319">
                  <c:v>0.37118272</c:v>
                </c:pt>
                <c:pt idx="320">
                  <c:v>0.3475439</c:v>
                </c:pt>
                <c:pt idx="321">
                  <c:v>0.32368309</c:v>
                </c:pt>
                <c:pt idx="322">
                  <c:v>0.29974171</c:v>
                </c:pt>
                <c:pt idx="323">
                  <c:v>0.27558623</c:v>
                </c:pt>
                <c:pt idx="324">
                  <c:v>0.25133848</c:v>
                </c:pt>
                <c:pt idx="325">
                  <c:v>0.22693627</c:v>
                </c:pt>
                <c:pt idx="326">
                  <c:v>0.20233199</c:v>
                </c:pt>
                <c:pt idx="327">
                  <c:v>0.17761762</c:v>
                </c:pt>
                <c:pt idx="328">
                  <c:v>0.15270932</c:v>
                </c:pt>
                <c:pt idx="329">
                  <c:v>0.12767886</c:v>
                </c:pt>
                <c:pt idx="330">
                  <c:v>0.10248896</c:v>
                </c:pt>
                <c:pt idx="331">
                  <c:v>0.07707542</c:v>
                </c:pt>
                <c:pt idx="332">
                  <c:v>0.05156318</c:v>
                </c:pt>
                <c:pt idx="333">
                  <c:v>0.02587784</c:v>
                </c:pt>
                <c:pt idx="334">
                  <c:v>0</c:v>
                </c:pt>
              </c:numCache>
            </c:numRef>
          </c:yVal>
        </c:ser>
        <c:ser>
          <c:idx val="1"/>
          <c:order val="1"/>
          <c:tx>
            <c:v>SIMPLE</c:v>
          </c:tx>
          <c:spPr>
            <a:ln xmlns:a="http://schemas.openxmlformats.org/drawingml/2006/main" w="38100">
              <a:solidFill>
                <a:srgbClr val="CD5CED"/>
              </a:solidFill>
              <a:prstDash val="solid"/>
            </a:ln>
          </c:spPr>
          <c:marker>
            <c:symbol val="none"/>
          </c:marker>
          <c:xVal>
            <c:numRef>
              <c:f>'Chart Data'!$C$2:$C$336</c:f>
              <c:numCache>
                <c:formatCode>General</c:formatCode>
                <c:ptCount val="33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</c:numCache>
            </c:numRef>
          </c:xVal>
          <c:yVal>
            <c:numRef>
              <c:f>'Chart Data'!$D$2:$D$336</c:f>
              <c:numCache>
                <c:formatCode>0.0</c:formatCode>
                <c:ptCount val="335"/>
                <c:pt idx="0">
                  <c:v>3.64603789</c:v>
                </c:pt>
                <c:pt idx="1">
                  <c:v>3.64603789</c:v>
                </c:pt>
                <c:pt idx="2">
                  <c:v>3.64603789</c:v>
                </c:pt>
                <c:pt idx="3">
                  <c:v>3.64603789</c:v>
                </c:pt>
                <c:pt idx="4">
                  <c:v>3.64603789</c:v>
                </c:pt>
                <c:pt idx="5">
                  <c:v>3.64603789</c:v>
                </c:pt>
                <c:pt idx="6">
                  <c:v>3.64603789</c:v>
                </c:pt>
                <c:pt idx="7">
                  <c:v>3.64603789</c:v>
                </c:pt>
                <c:pt idx="8">
                  <c:v>3.64603789</c:v>
                </c:pt>
                <c:pt idx="9">
                  <c:v>3.64603789</c:v>
                </c:pt>
                <c:pt idx="10">
                  <c:v>3.64603789</c:v>
                </c:pt>
                <c:pt idx="11">
                  <c:v>3.64603789</c:v>
                </c:pt>
                <c:pt idx="12">
                  <c:v>3.64603789</c:v>
                </c:pt>
                <c:pt idx="13">
                  <c:v>3.64603789</c:v>
                </c:pt>
                <c:pt idx="14">
                  <c:v>3.64603789</c:v>
                </c:pt>
                <c:pt idx="15">
                  <c:v>3.64603789</c:v>
                </c:pt>
                <c:pt idx="16">
                  <c:v>3.64603789</c:v>
                </c:pt>
                <c:pt idx="17">
                  <c:v>3.64603789</c:v>
                </c:pt>
                <c:pt idx="18">
                  <c:v>3.64603789</c:v>
                </c:pt>
                <c:pt idx="19">
                  <c:v>3.64603789</c:v>
                </c:pt>
                <c:pt idx="20">
                  <c:v>3.64603789</c:v>
                </c:pt>
                <c:pt idx="21">
                  <c:v>3.64603789</c:v>
                </c:pt>
                <c:pt idx="22">
                  <c:v>3.64603789</c:v>
                </c:pt>
                <c:pt idx="23">
                  <c:v>3.64603789</c:v>
                </c:pt>
                <c:pt idx="24">
                  <c:v>3.64603789</c:v>
                </c:pt>
                <c:pt idx="25">
                  <c:v>3.64603789</c:v>
                </c:pt>
                <c:pt idx="26">
                  <c:v>3.64603789</c:v>
                </c:pt>
                <c:pt idx="27">
                  <c:v>3.64603789</c:v>
                </c:pt>
                <c:pt idx="28">
                  <c:v>3.64603789</c:v>
                </c:pt>
                <c:pt idx="29">
                  <c:v>3.64603789</c:v>
                </c:pt>
                <c:pt idx="30">
                  <c:v>3.64603789</c:v>
                </c:pt>
                <c:pt idx="31">
                  <c:v>3.64603789</c:v>
                </c:pt>
                <c:pt idx="32">
                  <c:v>3.64603789</c:v>
                </c:pt>
                <c:pt idx="33">
                  <c:v>3.64603789</c:v>
                </c:pt>
                <c:pt idx="34">
                  <c:v>3.64603789</c:v>
                </c:pt>
                <c:pt idx="35">
                  <c:v>3.64603789</c:v>
                </c:pt>
                <c:pt idx="36">
                  <c:v>3.64603789</c:v>
                </c:pt>
                <c:pt idx="37">
                  <c:v>3.64603789</c:v>
                </c:pt>
                <c:pt idx="38">
                  <c:v>3.64603789</c:v>
                </c:pt>
                <c:pt idx="39">
                  <c:v>3.64603789</c:v>
                </c:pt>
                <c:pt idx="40">
                  <c:v>3.64603789</c:v>
                </c:pt>
                <c:pt idx="41">
                  <c:v>3.64603789</c:v>
                </c:pt>
                <c:pt idx="42">
                  <c:v>3.64603789</c:v>
                </c:pt>
                <c:pt idx="43">
                  <c:v>3.64603789</c:v>
                </c:pt>
                <c:pt idx="44">
                  <c:v>3.64603789</c:v>
                </c:pt>
                <c:pt idx="45">
                  <c:v>3.64603789</c:v>
                </c:pt>
                <c:pt idx="46">
                  <c:v>3.64603789</c:v>
                </c:pt>
                <c:pt idx="47">
                  <c:v>3.64603789</c:v>
                </c:pt>
                <c:pt idx="48">
                  <c:v>3.64603789</c:v>
                </c:pt>
                <c:pt idx="49">
                  <c:v>3.64603789</c:v>
                </c:pt>
                <c:pt idx="50">
                  <c:v>3.64603789</c:v>
                </c:pt>
                <c:pt idx="51">
                  <c:v>3.64603789</c:v>
                </c:pt>
                <c:pt idx="52">
                  <c:v>3.64603789</c:v>
                </c:pt>
                <c:pt idx="53">
                  <c:v>3.64603789</c:v>
                </c:pt>
                <c:pt idx="54">
                  <c:v>3.64603789</c:v>
                </c:pt>
                <c:pt idx="55">
                  <c:v>3.64603789</c:v>
                </c:pt>
                <c:pt idx="56">
                  <c:v>3.64603789</c:v>
                </c:pt>
                <c:pt idx="57">
                  <c:v>3.64603789</c:v>
                </c:pt>
                <c:pt idx="58">
                  <c:v>3.64603789</c:v>
                </c:pt>
                <c:pt idx="59">
                  <c:v>3.64603789</c:v>
                </c:pt>
                <c:pt idx="60">
                  <c:v>3.64603789</c:v>
                </c:pt>
                <c:pt idx="61">
                  <c:v>3.64603789</c:v>
                </c:pt>
                <c:pt idx="62">
                  <c:v>3.64603789</c:v>
                </c:pt>
                <c:pt idx="63">
                  <c:v>3.64603789</c:v>
                </c:pt>
                <c:pt idx="64">
                  <c:v>3.64603789</c:v>
                </c:pt>
                <c:pt idx="65">
                  <c:v>3.64603789</c:v>
                </c:pt>
                <c:pt idx="66">
                  <c:v>3.64603789</c:v>
                </c:pt>
                <c:pt idx="67">
                  <c:v>3.64603789</c:v>
                </c:pt>
                <c:pt idx="68">
                  <c:v>3.64603789</c:v>
                </c:pt>
                <c:pt idx="69">
                  <c:v>3.64603789</c:v>
                </c:pt>
                <c:pt idx="70">
                  <c:v>3.64603789</c:v>
                </c:pt>
                <c:pt idx="71">
                  <c:v>3.64603789</c:v>
                </c:pt>
                <c:pt idx="72">
                  <c:v>3.64603789</c:v>
                </c:pt>
                <c:pt idx="73">
                  <c:v>3.64603789</c:v>
                </c:pt>
                <c:pt idx="74">
                  <c:v>3.64603789</c:v>
                </c:pt>
                <c:pt idx="75">
                  <c:v>3.64603789</c:v>
                </c:pt>
                <c:pt idx="76">
                  <c:v>3.64603789</c:v>
                </c:pt>
                <c:pt idx="77">
                  <c:v>3.64603789</c:v>
                </c:pt>
                <c:pt idx="78">
                  <c:v>3.64603789</c:v>
                </c:pt>
                <c:pt idx="79">
                  <c:v>3.64603789</c:v>
                </c:pt>
                <c:pt idx="80">
                  <c:v>3.64603789</c:v>
                </c:pt>
                <c:pt idx="81">
                  <c:v>3.64603789</c:v>
                </c:pt>
                <c:pt idx="82">
                  <c:v>3.64603789</c:v>
                </c:pt>
                <c:pt idx="83">
                  <c:v>3.64603789</c:v>
                </c:pt>
                <c:pt idx="84">
                  <c:v>3.64603789</c:v>
                </c:pt>
                <c:pt idx="85">
                  <c:v>3.64603789</c:v>
                </c:pt>
                <c:pt idx="86">
                  <c:v>3.64603789</c:v>
                </c:pt>
                <c:pt idx="87">
                  <c:v>3.64603789</c:v>
                </c:pt>
                <c:pt idx="88">
                  <c:v>3.64603789</c:v>
                </c:pt>
                <c:pt idx="89">
                  <c:v>3.64603789</c:v>
                </c:pt>
                <c:pt idx="90">
                  <c:v>3.64603789</c:v>
                </c:pt>
                <c:pt idx="91">
                  <c:v>3.64603789</c:v>
                </c:pt>
                <c:pt idx="92">
                  <c:v>3.64603789</c:v>
                </c:pt>
                <c:pt idx="93">
                  <c:v>3.64603789</c:v>
                </c:pt>
                <c:pt idx="94">
                  <c:v>3.64603789</c:v>
                </c:pt>
                <c:pt idx="95">
                  <c:v>3.64603789</c:v>
                </c:pt>
                <c:pt idx="96">
                  <c:v>3.64603789</c:v>
                </c:pt>
                <c:pt idx="97">
                  <c:v>3.64603789</c:v>
                </c:pt>
                <c:pt idx="98">
                  <c:v>3.64603789</c:v>
                </c:pt>
                <c:pt idx="99">
                  <c:v>3.64603789</c:v>
                </c:pt>
                <c:pt idx="100">
                  <c:v>3.64603789</c:v>
                </c:pt>
                <c:pt idx="101">
                  <c:v>3.64603789</c:v>
                </c:pt>
                <c:pt idx="102">
                  <c:v>3.64603789</c:v>
                </c:pt>
                <c:pt idx="103">
                  <c:v>3.64603789</c:v>
                </c:pt>
                <c:pt idx="104">
                  <c:v>3.64603789</c:v>
                </c:pt>
                <c:pt idx="105">
                  <c:v>3.64603789</c:v>
                </c:pt>
                <c:pt idx="106">
                  <c:v>3.64603789</c:v>
                </c:pt>
                <c:pt idx="107">
                  <c:v>3.64603789</c:v>
                </c:pt>
                <c:pt idx="108">
                  <c:v>3.64603789</c:v>
                </c:pt>
                <c:pt idx="109">
                  <c:v>3.64603789</c:v>
                </c:pt>
                <c:pt idx="110">
                  <c:v>3.64603789</c:v>
                </c:pt>
                <c:pt idx="111">
                  <c:v>3.64603789</c:v>
                </c:pt>
                <c:pt idx="112">
                  <c:v>3.64603789</c:v>
                </c:pt>
                <c:pt idx="113">
                  <c:v>3.64603789</c:v>
                </c:pt>
                <c:pt idx="114">
                  <c:v>3.64603789</c:v>
                </c:pt>
                <c:pt idx="115">
                  <c:v>3.64603789</c:v>
                </c:pt>
                <c:pt idx="116">
                  <c:v>3.64603789</c:v>
                </c:pt>
                <c:pt idx="117">
                  <c:v>3.64603789</c:v>
                </c:pt>
                <c:pt idx="118">
                  <c:v>3.64603789</c:v>
                </c:pt>
                <c:pt idx="119">
                  <c:v>3.64603789</c:v>
                </c:pt>
                <c:pt idx="120">
                  <c:v>3.64603789</c:v>
                </c:pt>
                <c:pt idx="121">
                  <c:v>3.64603789</c:v>
                </c:pt>
                <c:pt idx="122">
                  <c:v>3.64603789</c:v>
                </c:pt>
                <c:pt idx="123">
                  <c:v>3.64603789</c:v>
                </c:pt>
                <c:pt idx="124">
                  <c:v>3.64603789</c:v>
                </c:pt>
                <c:pt idx="125">
                  <c:v>3.64603789</c:v>
                </c:pt>
                <c:pt idx="126">
                  <c:v>3.64603789</c:v>
                </c:pt>
                <c:pt idx="127">
                  <c:v>3.64603789</c:v>
                </c:pt>
                <c:pt idx="128">
                  <c:v>3.64603789</c:v>
                </c:pt>
                <c:pt idx="129">
                  <c:v>3.64603789</c:v>
                </c:pt>
                <c:pt idx="130">
                  <c:v>3.64603789</c:v>
                </c:pt>
                <c:pt idx="131">
                  <c:v>3.64603789</c:v>
                </c:pt>
                <c:pt idx="132">
                  <c:v>3.64603789</c:v>
                </c:pt>
                <c:pt idx="133">
                  <c:v>3.64603789</c:v>
                </c:pt>
                <c:pt idx="134">
                  <c:v>3.64603789</c:v>
                </c:pt>
                <c:pt idx="135">
                  <c:v>3.64603789</c:v>
                </c:pt>
                <c:pt idx="136">
                  <c:v>3.64603789</c:v>
                </c:pt>
                <c:pt idx="137">
                  <c:v>3.64603789</c:v>
                </c:pt>
                <c:pt idx="138">
                  <c:v>3.64603789</c:v>
                </c:pt>
                <c:pt idx="139">
                  <c:v>3.64603789</c:v>
                </c:pt>
                <c:pt idx="140">
                  <c:v>3.64603789</c:v>
                </c:pt>
                <c:pt idx="141">
                  <c:v>3.64603789</c:v>
                </c:pt>
                <c:pt idx="142">
                  <c:v>3.64603789</c:v>
                </c:pt>
                <c:pt idx="143">
                  <c:v>3.64603789</c:v>
                </c:pt>
                <c:pt idx="144">
                  <c:v>3.64603789</c:v>
                </c:pt>
                <c:pt idx="145">
                  <c:v>3.64603789</c:v>
                </c:pt>
                <c:pt idx="146">
                  <c:v>3.64603789</c:v>
                </c:pt>
                <c:pt idx="147">
                  <c:v>3.64603789</c:v>
                </c:pt>
                <c:pt idx="148">
                  <c:v>3.64603789</c:v>
                </c:pt>
                <c:pt idx="149">
                  <c:v>3.64603789</c:v>
                </c:pt>
                <c:pt idx="150">
                  <c:v>3.64603789</c:v>
                </c:pt>
                <c:pt idx="151">
                  <c:v>3.64603789</c:v>
                </c:pt>
                <c:pt idx="152">
                  <c:v>3.64603789</c:v>
                </c:pt>
                <c:pt idx="153">
                  <c:v>3.64603789</c:v>
                </c:pt>
                <c:pt idx="154">
                  <c:v>3.64603789</c:v>
                </c:pt>
                <c:pt idx="155">
                  <c:v>3.64603789</c:v>
                </c:pt>
                <c:pt idx="156">
                  <c:v>3.64603789</c:v>
                </c:pt>
                <c:pt idx="157">
                  <c:v>3.64603789</c:v>
                </c:pt>
                <c:pt idx="158">
                  <c:v>3.64603789</c:v>
                </c:pt>
                <c:pt idx="159">
                  <c:v>3.64603789</c:v>
                </c:pt>
                <c:pt idx="160">
                  <c:v>3.64603789</c:v>
                </c:pt>
                <c:pt idx="161">
                  <c:v>3.64603789</c:v>
                </c:pt>
                <c:pt idx="162">
                  <c:v>3.64603789</c:v>
                </c:pt>
                <c:pt idx="163">
                  <c:v>3.64603789</c:v>
                </c:pt>
                <c:pt idx="164">
                  <c:v>3.64603789</c:v>
                </c:pt>
                <c:pt idx="165">
                  <c:v>3.64603789</c:v>
                </c:pt>
                <c:pt idx="166">
                  <c:v>3.64603789</c:v>
                </c:pt>
                <c:pt idx="167">
                  <c:v>3.64603789</c:v>
                </c:pt>
                <c:pt idx="168">
                  <c:v>3.64603789</c:v>
                </c:pt>
                <c:pt idx="169">
                  <c:v>3.64603789</c:v>
                </c:pt>
                <c:pt idx="170">
                  <c:v>3.64603789</c:v>
                </c:pt>
                <c:pt idx="171">
                  <c:v>3.64603789</c:v>
                </c:pt>
                <c:pt idx="172">
                  <c:v>3.64603789</c:v>
                </c:pt>
                <c:pt idx="173">
                  <c:v>3.64603789</c:v>
                </c:pt>
                <c:pt idx="174">
                  <c:v>3.64603789</c:v>
                </c:pt>
                <c:pt idx="175">
                  <c:v>3.64603789</c:v>
                </c:pt>
                <c:pt idx="176">
                  <c:v>3.64603789</c:v>
                </c:pt>
                <c:pt idx="177">
                  <c:v>3.64603789</c:v>
                </c:pt>
                <c:pt idx="178">
                  <c:v>3.64603789</c:v>
                </c:pt>
                <c:pt idx="179">
                  <c:v>3.64603789</c:v>
                </c:pt>
                <c:pt idx="180">
                  <c:v>3.64603789</c:v>
                </c:pt>
                <c:pt idx="181">
                  <c:v>3.64603789</c:v>
                </c:pt>
                <c:pt idx="182">
                  <c:v>3.64603789</c:v>
                </c:pt>
                <c:pt idx="183">
                  <c:v>3.64603789</c:v>
                </c:pt>
                <c:pt idx="184">
                  <c:v>3.64603789</c:v>
                </c:pt>
                <c:pt idx="185">
                  <c:v>3.64603789</c:v>
                </c:pt>
                <c:pt idx="186">
                  <c:v>3.64603789</c:v>
                </c:pt>
                <c:pt idx="187">
                  <c:v>3.64603789</c:v>
                </c:pt>
                <c:pt idx="188">
                  <c:v>3.64603789</c:v>
                </c:pt>
                <c:pt idx="189">
                  <c:v>3.64603789</c:v>
                </c:pt>
                <c:pt idx="190">
                  <c:v>3.64603789</c:v>
                </c:pt>
                <c:pt idx="191">
                  <c:v>3.64603789</c:v>
                </c:pt>
                <c:pt idx="192">
                  <c:v>3.64603789</c:v>
                </c:pt>
                <c:pt idx="193">
                  <c:v>3.64603789</c:v>
                </c:pt>
                <c:pt idx="194">
                  <c:v>3.64603789</c:v>
                </c:pt>
                <c:pt idx="195">
                  <c:v>3.64603789</c:v>
                </c:pt>
                <c:pt idx="196">
                  <c:v>3.64603789</c:v>
                </c:pt>
                <c:pt idx="197">
                  <c:v>3.64603789</c:v>
                </c:pt>
                <c:pt idx="198">
                  <c:v>3.64603789</c:v>
                </c:pt>
                <c:pt idx="199">
                  <c:v>3.64603789</c:v>
                </c:pt>
                <c:pt idx="200">
                  <c:v>3.64603789</c:v>
                </c:pt>
                <c:pt idx="201">
                  <c:v>3.64603789</c:v>
                </c:pt>
                <c:pt idx="202">
                  <c:v>3.64603789</c:v>
                </c:pt>
                <c:pt idx="203">
                  <c:v>3.64603789</c:v>
                </c:pt>
                <c:pt idx="204">
                  <c:v>3.64603789</c:v>
                </c:pt>
                <c:pt idx="205">
                  <c:v>3.64603789</c:v>
                </c:pt>
                <c:pt idx="206">
                  <c:v>3.64603789</c:v>
                </c:pt>
                <c:pt idx="207">
                  <c:v>3.64603789</c:v>
                </c:pt>
                <c:pt idx="208">
                  <c:v>3.64603789</c:v>
                </c:pt>
                <c:pt idx="209">
                  <c:v>3.64603789</c:v>
                </c:pt>
                <c:pt idx="210">
                  <c:v>3.64603789</c:v>
                </c:pt>
                <c:pt idx="211">
                  <c:v>3.64603789</c:v>
                </c:pt>
                <c:pt idx="212">
                  <c:v>3.64603789</c:v>
                </c:pt>
                <c:pt idx="213">
                  <c:v>3.64603789</c:v>
                </c:pt>
                <c:pt idx="214">
                  <c:v>3.64603789</c:v>
                </c:pt>
                <c:pt idx="215">
                  <c:v>3.64603789</c:v>
                </c:pt>
                <c:pt idx="216">
                  <c:v>3.64603789</c:v>
                </c:pt>
                <c:pt idx="217">
                  <c:v>3.64603789</c:v>
                </c:pt>
                <c:pt idx="218">
                  <c:v>3.64603789</c:v>
                </c:pt>
                <c:pt idx="219">
                  <c:v>3.64603789</c:v>
                </c:pt>
                <c:pt idx="220">
                  <c:v>3.64603789</c:v>
                </c:pt>
                <c:pt idx="221">
                  <c:v>3.64603789</c:v>
                </c:pt>
                <c:pt idx="222">
                  <c:v>3.64603789</c:v>
                </c:pt>
                <c:pt idx="223">
                  <c:v>3.64603789</c:v>
                </c:pt>
                <c:pt idx="224">
                  <c:v>3.64603789</c:v>
                </c:pt>
                <c:pt idx="225">
                  <c:v>3.64603789</c:v>
                </c:pt>
                <c:pt idx="226">
                  <c:v>3.64603789</c:v>
                </c:pt>
                <c:pt idx="227">
                  <c:v>3.64603789</c:v>
                </c:pt>
                <c:pt idx="228">
                  <c:v>3.64603789</c:v>
                </c:pt>
                <c:pt idx="229">
                  <c:v>3.64603789</c:v>
                </c:pt>
                <c:pt idx="230">
                  <c:v>3.64603789</c:v>
                </c:pt>
                <c:pt idx="231">
                  <c:v>3.64603789</c:v>
                </c:pt>
                <c:pt idx="232">
                  <c:v>3.64603789</c:v>
                </c:pt>
                <c:pt idx="233">
                  <c:v>3.64603789</c:v>
                </c:pt>
                <c:pt idx="234">
                  <c:v>3.64603789</c:v>
                </c:pt>
                <c:pt idx="235">
                  <c:v>3.64603789</c:v>
                </c:pt>
                <c:pt idx="236">
                  <c:v>3.64603789</c:v>
                </c:pt>
                <c:pt idx="237">
                  <c:v>3.64603789</c:v>
                </c:pt>
                <c:pt idx="238">
                  <c:v>3.64603789</c:v>
                </c:pt>
                <c:pt idx="239">
                  <c:v>3.64603789</c:v>
                </c:pt>
                <c:pt idx="240">
                  <c:v>3.64603789</c:v>
                </c:pt>
                <c:pt idx="241">
                  <c:v>3.64603789</c:v>
                </c:pt>
                <c:pt idx="242">
                  <c:v>3.64603789</c:v>
                </c:pt>
                <c:pt idx="243">
                  <c:v>3.64603789</c:v>
                </c:pt>
                <c:pt idx="244">
                  <c:v>3.64603789</c:v>
                </c:pt>
                <c:pt idx="245">
                  <c:v>3.64603789</c:v>
                </c:pt>
                <c:pt idx="246">
                  <c:v>3.64603789</c:v>
                </c:pt>
                <c:pt idx="247">
                  <c:v>3.64603789</c:v>
                </c:pt>
                <c:pt idx="248">
                  <c:v>3.64603789</c:v>
                </c:pt>
                <c:pt idx="249">
                  <c:v>3.64603789</c:v>
                </c:pt>
                <c:pt idx="250">
                  <c:v>3.64603789</c:v>
                </c:pt>
                <c:pt idx="251">
                  <c:v>3.64603789</c:v>
                </c:pt>
                <c:pt idx="252">
                  <c:v>3.64603789</c:v>
                </c:pt>
                <c:pt idx="253">
                  <c:v>3.64603789</c:v>
                </c:pt>
                <c:pt idx="254">
                  <c:v>3.64603789</c:v>
                </c:pt>
                <c:pt idx="255">
                  <c:v>3.64603789</c:v>
                </c:pt>
                <c:pt idx="256">
                  <c:v>3.64603789</c:v>
                </c:pt>
                <c:pt idx="257">
                  <c:v>3.64603789</c:v>
                </c:pt>
                <c:pt idx="258">
                  <c:v>3.64603789</c:v>
                </c:pt>
                <c:pt idx="259">
                  <c:v>3.64603789</c:v>
                </c:pt>
                <c:pt idx="260">
                  <c:v>3.64603789</c:v>
                </c:pt>
                <c:pt idx="261">
                  <c:v>3.64603789</c:v>
                </c:pt>
                <c:pt idx="262">
                  <c:v>3.64603789</c:v>
                </c:pt>
                <c:pt idx="263">
                  <c:v>3.64603789</c:v>
                </c:pt>
                <c:pt idx="264">
                  <c:v>3.64603789</c:v>
                </c:pt>
                <c:pt idx="265">
                  <c:v>3.64603789</c:v>
                </c:pt>
                <c:pt idx="266">
                  <c:v>3.64603789</c:v>
                </c:pt>
                <c:pt idx="267">
                  <c:v>3.64603789</c:v>
                </c:pt>
                <c:pt idx="268">
                  <c:v>3.64603789</c:v>
                </c:pt>
                <c:pt idx="269">
                  <c:v>3.64603789</c:v>
                </c:pt>
                <c:pt idx="270">
                  <c:v>3.64603789</c:v>
                </c:pt>
                <c:pt idx="271">
                  <c:v>3.64603789</c:v>
                </c:pt>
                <c:pt idx="272">
                  <c:v>3.64603789</c:v>
                </c:pt>
                <c:pt idx="273">
                  <c:v>3.64603789</c:v>
                </c:pt>
                <c:pt idx="274">
                  <c:v>3.64603789</c:v>
                </c:pt>
                <c:pt idx="275">
                  <c:v>3.64603789</c:v>
                </c:pt>
                <c:pt idx="276">
                  <c:v>3.64603789</c:v>
                </c:pt>
                <c:pt idx="277">
                  <c:v>3.64603789</c:v>
                </c:pt>
                <c:pt idx="278">
                  <c:v>3.64603789</c:v>
                </c:pt>
                <c:pt idx="279">
                  <c:v>3.64603789</c:v>
                </c:pt>
                <c:pt idx="280">
                  <c:v>3.64603789</c:v>
                </c:pt>
                <c:pt idx="281">
                  <c:v>3.64603789</c:v>
                </c:pt>
                <c:pt idx="282">
                  <c:v>3.64603789</c:v>
                </c:pt>
                <c:pt idx="283">
                  <c:v>3.64603789</c:v>
                </c:pt>
                <c:pt idx="284">
                  <c:v>3.64603789</c:v>
                </c:pt>
                <c:pt idx="285">
                  <c:v>3.64603789</c:v>
                </c:pt>
                <c:pt idx="286">
                  <c:v>3.64603789</c:v>
                </c:pt>
                <c:pt idx="287">
                  <c:v>3.64603789</c:v>
                </c:pt>
                <c:pt idx="288">
                  <c:v>3.64603789</c:v>
                </c:pt>
                <c:pt idx="289">
                  <c:v>3.64603789</c:v>
                </c:pt>
                <c:pt idx="290">
                  <c:v>3.64603789</c:v>
                </c:pt>
                <c:pt idx="291">
                  <c:v>3.64603789</c:v>
                </c:pt>
                <c:pt idx="292">
                  <c:v>3.64603789</c:v>
                </c:pt>
                <c:pt idx="293">
                  <c:v>3.64603789</c:v>
                </c:pt>
                <c:pt idx="294">
                  <c:v>3.64603789</c:v>
                </c:pt>
                <c:pt idx="295">
                  <c:v>3.64603789</c:v>
                </c:pt>
                <c:pt idx="296">
                  <c:v>3.64603789</c:v>
                </c:pt>
                <c:pt idx="297">
                  <c:v>3.64603789</c:v>
                </c:pt>
                <c:pt idx="298">
                  <c:v>3.64603789</c:v>
                </c:pt>
                <c:pt idx="299">
                  <c:v>3.64603789</c:v>
                </c:pt>
                <c:pt idx="300">
                  <c:v>3.64603789</c:v>
                </c:pt>
                <c:pt idx="301">
                  <c:v>3.64603789</c:v>
                </c:pt>
                <c:pt idx="302">
                  <c:v>3.64603789</c:v>
                </c:pt>
                <c:pt idx="303">
                  <c:v>3.64603789</c:v>
                </c:pt>
                <c:pt idx="304">
                  <c:v>3.64603789</c:v>
                </c:pt>
                <c:pt idx="305">
                  <c:v>3.64603789</c:v>
                </c:pt>
                <c:pt idx="306">
                  <c:v>3.64603789</c:v>
                </c:pt>
                <c:pt idx="307">
                  <c:v>3.64603789</c:v>
                </c:pt>
                <c:pt idx="308">
                  <c:v>3.64603789</c:v>
                </c:pt>
                <c:pt idx="309">
                  <c:v>3.64603789</c:v>
                </c:pt>
                <c:pt idx="310">
                  <c:v>3.64603789</c:v>
                </c:pt>
                <c:pt idx="311">
                  <c:v>3.64603789</c:v>
                </c:pt>
                <c:pt idx="312">
                  <c:v>3.64603789</c:v>
                </c:pt>
                <c:pt idx="313">
                  <c:v>3.64603789</c:v>
                </c:pt>
                <c:pt idx="314">
                  <c:v>3.64603789</c:v>
                </c:pt>
                <c:pt idx="315">
                  <c:v>3.64603789</c:v>
                </c:pt>
                <c:pt idx="316">
                  <c:v>3.64603789</c:v>
                </c:pt>
                <c:pt idx="317">
                  <c:v>3.64603789</c:v>
                </c:pt>
                <c:pt idx="318">
                  <c:v>3.64603789</c:v>
                </c:pt>
                <c:pt idx="319">
                  <c:v>3.64603789</c:v>
                </c:pt>
                <c:pt idx="320">
                  <c:v>3.64603789</c:v>
                </c:pt>
                <c:pt idx="321">
                  <c:v>3.64603789</c:v>
                </c:pt>
                <c:pt idx="322">
                  <c:v>3.64603789</c:v>
                </c:pt>
                <c:pt idx="323">
                  <c:v>3.64603789</c:v>
                </c:pt>
                <c:pt idx="324">
                  <c:v>3.64603789</c:v>
                </c:pt>
                <c:pt idx="325">
                  <c:v>3.64603789</c:v>
                </c:pt>
                <c:pt idx="326">
                  <c:v>3.64603789</c:v>
                </c:pt>
                <c:pt idx="327">
                  <c:v>3.64603789</c:v>
                </c:pt>
                <c:pt idx="328">
                  <c:v>3.64603789</c:v>
                </c:pt>
                <c:pt idx="329">
                  <c:v>3.64603789</c:v>
                </c:pt>
                <c:pt idx="330">
                  <c:v>3.64603789</c:v>
                </c:pt>
                <c:pt idx="331">
                  <c:v>3.64603789</c:v>
                </c:pt>
                <c:pt idx="332">
                  <c:v>3.64603789</c:v>
                </c:pt>
                <c:pt idx="333">
                  <c:v>3.64603789</c:v>
                </c:pt>
                <c:pt idx="334">
                  <c:v>0</c:v>
                </c:pt>
              </c:numCache>
            </c:numRef>
          </c:yVal>
        </c:ser>
        <c:ser>
          <c:idx val="2"/>
          <c:order val="2"/>
          <c:tx>
            <c:v>RGM</c:v>
          </c:tx>
          <c:spPr>
            <a:ln xmlns:a="http://schemas.openxmlformats.org/drawingml/2006/main" w="38100">
              <a:solidFill>
                <a:srgbClr val="DC8837"/>
              </a:solidFill>
              <a:prstDash val="solid"/>
            </a:ln>
          </c:spPr>
          <c:marker>
            <c:symbol val="none"/>
          </c:marker>
          <c:xVal>
            <c:numRef>
              <c:f>'Chart Data'!$E$2:$E$336</c:f>
              <c:numCache>
                <c:formatCode>General</c:formatCode>
                <c:ptCount val="33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</c:numCache>
            </c:numRef>
          </c:xVal>
          <c:yVal>
            <c:numRef>
              <c:f>'Chart Data'!$F$2:$F$336</c:f>
              <c:numCache>
                <c:formatCode>0.0</c:formatCode>
                <c:ptCount val="335"/>
                <c:pt idx="0">
                  <c:v>3.64603789</c:v>
                </c:pt>
                <c:pt idx="1">
                  <c:v>3.63512161</c:v>
                </c:pt>
                <c:pt idx="2">
                  <c:v>3.62420533</c:v>
                </c:pt>
                <c:pt idx="3">
                  <c:v>3.61328905</c:v>
                </c:pt>
                <c:pt idx="4">
                  <c:v>3.60237277</c:v>
                </c:pt>
                <c:pt idx="5">
                  <c:v>3.59145649</c:v>
                </c:pt>
                <c:pt idx="6">
                  <c:v>3.58054021</c:v>
                </c:pt>
                <c:pt idx="7">
                  <c:v>3.56962393</c:v>
                </c:pt>
                <c:pt idx="8">
                  <c:v>3.55870765</c:v>
                </c:pt>
                <c:pt idx="9">
                  <c:v>3.54779137</c:v>
                </c:pt>
                <c:pt idx="10">
                  <c:v>3.53687509</c:v>
                </c:pt>
                <c:pt idx="11">
                  <c:v>3.52595881</c:v>
                </c:pt>
                <c:pt idx="12">
                  <c:v>3.51504253</c:v>
                </c:pt>
                <c:pt idx="13">
                  <c:v>3.50412625</c:v>
                </c:pt>
                <c:pt idx="14">
                  <c:v>3.49320997</c:v>
                </c:pt>
                <c:pt idx="15">
                  <c:v>3.48229369</c:v>
                </c:pt>
                <c:pt idx="16">
                  <c:v>3.47137741</c:v>
                </c:pt>
                <c:pt idx="17">
                  <c:v>3.46046113</c:v>
                </c:pt>
                <c:pt idx="18">
                  <c:v>3.44954485</c:v>
                </c:pt>
                <c:pt idx="19">
                  <c:v>3.43862857</c:v>
                </c:pt>
                <c:pt idx="20">
                  <c:v>3.42771229</c:v>
                </c:pt>
                <c:pt idx="21">
                  <c:v>3.41679601</c:v>
                </c:pt>
                <c:pt idx="22">
                  <c:v>3.40587973</c:v>
                </c:pt>
                <c:pt idx="23">
                  <c:v>3.39496345</c:v>
                </c:pt>
                <c:pt idx="24">
                  <c:v>3.38404717</c:v>
                </c:pt>
                <c:pt idx="25">
                  <c:v>3.37313089</c:v>
                </c:pt>
                <c:pt idx="26">
                  <c:v>3.36221461</c:v>
                </c:pt>
                <c:pt idx="27">
                  <c:v>3.35129833</c:v>
                </c:pt>
                <c:pt idx="28">
                  <c:v>3.34038205</c:v>
                </c:pt>
                <c:pt idx="29">
                  <c:v>3.32946577</c:v>
                </c:pt>
                <c:pt idx="30">
                  <c:v>3.31854949</c:v>
                </c:pt>
                <c:pt idx="31">
                  <c:v>3.30763321</c:v>
                </c:pt>
                <c:pt idx="32">
                  <c:v>3.29671693</c:v>
                </c:pt>
                <c:pt idx="33">
                  <c:v>3.28580065</c:v>
                </c:pt>
                <c:pt idx="34">
                  <c:v>3.27488437</c:v>
                </c:pt>
                <c:pt idx="35">
                  <c:v>3.26396809</c:v>
                </c:pt>
                <c:pt idx="36">
                  <c:v>3.25305181</c:v>
                </c:pt>
                <c:pt idx="37">
                  <c:v>3.24213553</c:v>
                </c:pt>
                <c:pt idx="38">
                  <c:v>3.23121925</c:v>
                </c:pt>
                <c:pt idx="39">
                  <c:v>3.22030297</c:v>
                </c:pt>
                <c:pt idx="40">
                  <c:v>3.20938669</c:v>
                </c:pt>
                <c:pt idx="41">
                  <c:v>3.19847041</c:v>
                </c:pt>
                <c:pt idx="42">
                  <c:v>3.18755413</c:v>
                </c:pt>
                <c:pt idx="43">
                  <c:v>3.17663785</c:v>
                </c:pt>
                <c:pt idx="44">
                  <c:v>3.16572157</c:v>
                </c:pt>
                <c:pt idx="45">
                  <c:v>3.15480529</c:v>
                </c:pt>
                <c:pt idx="46">
                  <c:v>3.14388901</c:v>
                </c:pt>
                <c:pt idx="47">
                  <c:v>3.13297273</c:v>
                </c:pt>
                <c:pt idx="48">
                  <c:v>3.12205645</c:v>
                </c:pt>
                <c:pt idx="49">
                  <c:v>3.11114017</c:v>
                </c:pt>
                <c:pt idx="50">
                  <c:v>3.10022389</c:v>
                </c:pt>
                <c:pt idx="51">
                  <c:v>3.08930761</c:v>
                </c:pt>
                <c:pt idx="52">
                  <c:v>3.07839133</c:v>
                </c:pt>
                <c:pt idx="53">
                  <c:v>3.06747505</c:v>
                </c:pt>
                <c:pt idx="54">
                  <c:v>3.05655877</c:v>
                </c:pt>
                <c:pt idx="55">
                  <c:v>3.04564249</c:v>
                </c:pt>
                <c:pt idx="56">
                  <c:v>3.03472621</c:v>
                </c:pt>
                <c:pt idx="57">
                  <c:v>3.02380993</c:v>
                </c:pt>
                <c:pt idx="58">
                  <c:v>3.01289365</c:v>
                </c:pt>
                <c:pt idx="59">
                  <c:v>3.00197737</c:v>
                </c:pt>
                <c:pt idx="60">
                  <c:v>2.99106109</c:v>
                </c:pt>
                <c:pt idx="61">
                  <c:v>2.98014481</c:v>
                </c:pt>
                <c:pt idx="62">
                  <c:v>2.96922853</c:v>
                </c:pt>
                <c:pt idx="63">
                  <c:v>2.95831225</c:v>
                </c:pt>
                <c:pt idx="64">
                  <c:v>2.94739597</c:v>
                </c:pt>
                <c:pt idx="65">
                  <c:v>2.93647969</c:v>
                </c:pt>
                <c:pt idx="66">
                  <c:v>2.92556341</c:v>
                </c:pt>
                <c:pt idx="67">
                  <c:v>2.91464713</c:v>
                </c:pt>
                <c:pt idx="68">
                  <c:v>2.90373085</c:v>
                </c:pt>
                <c:pt idx="69">
                  <c:v>2.89281457</c:v>
                </c:pt>
                <c:pt idx="70">
                  <c:v>2.88189829</c:v>
                </c:pt>
                <c:pt idx="71">
                  <c:v>2.87098201</c:v>
                </c:pt>
                <c:pt idx="72">
                  <c:v>2.86006573</c:v>
                </c:pt>
                <c:pt idx="73">
                  <c:v>2.84914945</c:v>
                </c:pt>
                <c:pt idx="74">
                  <c:v>2.83823317</c:v>
                </c:pt>
                <c:pt idx="75">
                  <c:v>2.82731689</c:v>
                </c:pt>
                <c:pt idx="76">
                  <c:v>2.81640061</c:v>
                </c:pt>
                <c:pt idx="77">
                  <c:v>2.80548433</c:v>
                </c:pt>
                <c:pt idx="78">
                  <c:v>2.79456805</c:v>
                </c:pt>
                <c:pt idx="79">
                  <c:v>2.78365177</c:v>
                </c:pt>
                <c:pt idx="80">
                  <c:v>2.77273549</c:v>
                </c:pt>
                <c:pt idx="81">
                  <c:v>2.76181921</c:v>
                </c:pt>
                <c:pt idx="82">
                  <c:v>2.75090293</c:v>
                </c:pt>
                <c:pt idx="83">
                  <c:v>2.73998665</c:v>
                </c:pt>
                <c:pt idx="84">
                  <c:v>2.72907037</c:v>
                </c:pt>
                <c:pt idx="85">
                  <c:v>2.71815409</c:v>
                </c:pt>
                <c:pt idx="86">
                  <c:v>2.70723781</c:v>
                </c:pt>
                <c:pt idx="87">
                  <c:v>2.69632153</c:v>
                </c:pt>
                <c:pt idx="88">
                  <c:v>2.68540525</c:v>
                </c:pt>
                <c:pt idx="89">
                  <c:v>2.67448897</c:v>
                </c:pt>
                <c:pt idx="90">
                  <c:v>2.66357269</c:v>
                </c:pt>
                <c:pt idx="91">
                  <c:v>2.65265641</c:v>
                </c:pt>
                <c:pt idx="92">
                  <c:v>2.64174013</c:v>
                </c:pt>
                <c:pt idx="93">
                  <c:v>2.63082385</c:v>
                </c:pt>
                <c:pt idx="94">
                  <c:v>2.61990757</c:v>
                </c:pt>
                <c:pt idx="95">
                  <c:v>2.60899129</c:v>
                </c:pt>
                <c:pt idx="96">
                  <c:v>2.59807501</c:v>
                </c:pt>
                <c:pt idx="97">
                  <c:v>2.58715873</c:v>
                </c:pt>
                <c:pt idx="98">
                  <c:v>2.57624245</c:v>
                </c:pt>
                <c:pt idx="99">
                  <c:v>2.56532617</c:v>
                </c:pt>
                <c:pt idx="100">
                  <c:v>2.55440989</c:v>
                </c:pt>
                <c:pt idx="101">
                  <c:v>2.54349361</c:v>
                </c:pt>
                <c:pt idx="102">
                  <c:v>2.53257733</c:v>
                </c:pt>
                <c:pt idx="103">
                  <c:v>2.52166105</c:v>
                </c:pt>
                <c:pt idx="104">
                  <c:v>2.51074477</c:v>
                </c:pt>
                <c:pt idx="105">
                  <c:v>2.49982849</c:v>
                </c:pt>
                <c:pt idx="106">
                  <c:v>2.48891221</c:v>
                </c:pt>
                <c:pt idx="107">
                  <c:v>2.47799593</c:v>
                </c:pt>
                <c:pt idx="108">
                  <c:v>2.46707965</c:v>
                </c:pt>
                <c:pt idx="109">
                  <c:v>2.45616337</c:v>
                </c:pt>
                <c:pt idx="110">
                  <c:v>2.44524709</c:v>
                </c:pt>
                <c:pt idx="111">
                  <c:v>2.43433081</c:v>
                </c:pt>
                <c:pt idx="112">
                  <c:v>2.42341453</c:v>
                </c:pt>
                <c:pt idx="113">
                  <c:v>2.41249825</c:v>
                </c:pt>
                <c:pt idx="114">
                  <c:v>2.40158197</c:v>
                </c:pt>
                <c:pt idx="115">
                  <c:v>2.39066569</c:v>
                </c:pt>
                <c:pt idx="116">
                  <c:v>2.37974941</c:v>
                </c:pt>
                <c:pt idx="117">
                  <c:v>2.36883313</c:v>
                </c:pt>
                <c:pt idx="118">
                  <c:v>2.35791685</c:v>
                </c:pt>
                <c:pt idx="119">
                  <c:v>2.34700057</c:v>
                </c:pt>
                <c:pt idx="120">
                  <c:v>2.33608429</c:v>
                </c:pt>
                <c:pt idx="121">
                  <c:v>2.32516801</c:v>
                </c:pt>
                <c:pt idx="122">
                  <c:v>2.31425173</c:v>
                </c:pt>
                <c:pt idx="123">
                  <c:v>2.30333545</c:v>
                </c:pt>
                <c:pt idx="124">
                  <c:v>2.29241917</c:v>
                </c:pt>
                <c:pt idx="125">
                  <c:v>2.28150289</c:v>
                </c:pt>
                <c:pt idx="126">
                  <c:v>2.27058661</c:v>
                </c:pt>
                <c:pt idx="127">
                  <c:v>2.25967033</c:v>
                </c:pt>
                <c:pt idx="128">
                  <c:v>2.24875405</c:v>
                </c:pt>
                <c:pt idx="129">
                  <c:v>2.23783777</c:v>
                </c:pt>
                <c:pt idx="130">
                  <c:v>2.22692149</c:v>
                </c:pt>
                <c:pt idx="131">
                  <c:v>2.21600521</c:v>
                </c:pt>
                <c:pt idx="132">
                  <c:v>2.20508893</c:v>
                </c:pt>
                <c:pt idx="133">
                  <c:v>2.19417265</c:v>
                </c:pt>
                <c:pt idx="134">
                  <c:v>2.18325637</c:v>
                </c:pt>
                <c:pt idx="135">
                  <c:v>2.17234009</c:v>
                </c:pt>
                <c:pt idx="136">
                  <c:v>2.16142381</c:v>
                </c:pt>
                <c:pt idx="137">
                  <c:v>2.15050753</c:v>
                </c:pt>
                <c:pt idx="138">
                  <c:v>2.13959125</c:v>
                </c:pt>
                <c:pt idx="139">
                  <c:v>2.12867497</c:v>
                </c:pt>
                <c:pt idx="140">
                  <c:v>2.11775869</c:v>
                </c:pt>
                <c:pt idx="141">
                  <c:v>2.10684241</c:v>
                </c:pt>
                <c:pt idx="142">
                  <c:v>2.09592613</c:v>
                </c:pt>
                <c:pt idx="143">
                  <c:v>2.08500985</c:v>
                </c:pt>
                <c:pt idx="144">
                  <c:v>2.07409357</c:v>
                </c:pt>
                <c:pt idx="145">
                  <c:v>2.06317729</c:v>
                </c:pt>
                <c:pt idx="146">
                  <c:v>2.05226101</c:v>
                </c:pt>
                <c:pt idx="147">
                  <c:v>2.04134473</c:v>
                </c:pt>
                <c:pt idx="148">
                  <c:v>2.03042845</c:v>
                </c:pt>
                <c:pt idx="149">
                  <c:v>2.01951217</c:v>
                </c:pt>
                <c:pt idx="150">
                  <c:v>2.00859589</c:v>
                </c:pt>
                <c:pt idx="151">
                  <c:v>1.99767961</c:v>
                </c:pt>
                <c:pt idx="152">
                  <c:v>1.98676333</c:v>
                </c:pt>
                <c:pt idx="153">
                  <c:v>1.97584705</c:v>
                </c:pt>
                <c:pt idx="154">
                  <c:v>1.96493077</c:v>
                </c:pt>
                <c:pt idx="155">
                  <c:v>1.95401449</c:v>
                </c:pt>
                <c:pt idx="156">
                  <c:v>1.94309821</c:v>
                </c:pt>
                <c:pt idx="157">
                  <c:v>1.93218193</c:v>
                </c:pt>
                <c:pt idx="158">
                  <c:v>1.92126565</c:v>
                </c:pt>
                <c:pt idx="159">
                  <c:v>1.91034937</c:v>
                </c:pt>
                <c:pt idx="160">
                  <c:v>1.89943309</c:v>
                </c:pt>
                <c:pt idx="161">
                  <c:v>1.88851681</c:v>
                </c:pt>
                <c:pt idx="162">
                  <c:v>1.87760053</c:v>
                </c:pt>
                <c:pt idx="163">
                  <c:v>1.86668425</c:v>
                </c:pt>
                <c:pt idx="164">
                  <c:v>1.85576797</c:v>
                </c:pt>
                <c:pt idx="165">
                  <c:v>1.84485169</c:v>
                </c:pt>
                <c:pt idx="166">
                  <c:v>1.83393541</c:v>
                </c:pt>
                <c:pt idx="167">
                  <c:v>1.82301913</c:v>
                </c:pt>
                <c:pt idx="168">
                  <c:v>1.81210285</c:v>
                </c:pt>
                <c:pt idx="169">
                  <c:v>1.80118657</c:v>
                </c:pt>
                <c:pt idx="170">
                  <c:v>1.79027029</c:v>
                </c:pt>
                <c:pt idx="171">
                  <c:v>1.77935401</c:v>
                </c:pt>
                <c:pt idx="172">
                  <c:v>1.76843773</c:v>
                </c:pt>
                <c:pt idx="173">
                  <c:v>1.75752145</c:v>
                </c:pt>
                <c:pt idx="174">
                  <c:v>1.74660517</c:v>
                </c:pt>
                <c:pt idx="175">
                  <c:v>1.73568889</c:v>
                </c:pt>
                <c:pt idx="176">
                  <c:v>1.72477261</c:v>
                </c:pt>
                <c:pt idx="177">
                  <c:v>1.71385633</c:v>
                </c:pt>
                <c:pt idx="178">
                  <c:v>1.70294005</c:v>
                </c:pt>
                <c:pt idx="179">
                  <c:v>1.69202377</c:v>
                </c:pt>
                <c:pt idx="180">
                  <c:v>1.68110749</c:v>
                </c:pt>
                <c:pt idx="181">
                  <c:v>1.67019121</c:v>
                </c:pt>
                <c:pt idx="182">
                  <c:v>1.65927493</c:v>
                </c:pt>
                <c:pt idx="183">
                  <c:v>1.64835865</c:v>
                </c:pt>
                <c:pt idx="184">
                  <c:v>1.63744237</c:v>
                </c:pt>
                <c:pt idx="185">
                  <c:v>1.62652609</c:v>
                </c:pt>
                <c:pt idx="186">
                  <c:v>1.61560981</c:v>
                </c:pt>
                <c:pt idx="187">
                  <c:v>1.60469353</c:v>
                </c:pt>
                <c:pt idx="188">
                  <c:v>1.59377725</c:v>
                </c:pt>
                <c:pt idx="189">
                  <c:v>1.58286097</c:v>
                </c:pt>
                <c:pt idx="190">
                  <c:v>1.57194469</c:v>
                </c:pt>
                <c:pt idx="191">
                  <c:v>1.56102841</c:v>
                </c:pt>
                <c:pt idx="192">
                  <c:v>1.55011213</c:v>
                </c:pt>
                <c:pt idx="193">
                  <c:v>1.53919585</c:v>
                </c:pt>
                <c:pt idx="194">
                  <c:v>1.52827957</c:v>
                </c:pt>
                <c:pt idx="195">
                  <c:v>1.51736329</c:v>
                </c:pt>
                <c:pt idx="196">
                  <c:v>1.50644701</c:v>
                </c:pt>
                <c:pt idx="197">
                  <c:v>1.49553073</c:v>
                </c:pt>
                <c:pt idx="198">
                  <c:v>1.48461445</c:v>
                </c:pt>
                <c:pt idx="199">
                  <c:v>1.47369817</c:v>
                </c:pt>
                <c:pt idx="200">
                  <c:v>1.46278189</c:v>
                </c:pt>
                <c:pt idx="201">
                  <c:v>1.45186561</c:v>
                </c:pt>
                <c:pt idx="202">
                  <c:v>1.44094933</c:v>
                </c:pt>
                <c:pt idx="203">
                  <c:v>1.43003305</c:v>
                </c:pt>
                <c:pt idx="204">
                  <c:v>1.41911677</c:v>
                </c:pt>
                <c:pt idx="205">
                  <c:v>1.40820049</c:v>
                </c:pt>
                <c:pt idx="206">
                  <c:v>1.39728421</c:v>
                </c:pt>
                <c:pt idx="207">
                  <c:v>1.38636793</c:v>
                </c:pt>
                <c:pt idx="208">
                  <c:v>1.37545165</c:v>
                </c:pt>
                <c:pt idx="209">
                  <c:v>1.36453537</c:v>
                </c:pt>
                <c:pt idx="210">
                  <c:v>1.35361909</c:v>
                </c:pt>
                <c:pt idx="211">
                  <c:v>1.34270281</c:v>
                </c:pt>
                <c:pt idx="212">
                  <c:v>1.33178653</c:v>
                </c:pt>
                <c:pt idx="213">
                  <c:v>1.32087025</c:v>
                </c:pt>
                <c:pt idx="214">
                  <c:v>1.30995397</c:v>
                </c:pt>
                <c:pt idx="215">
                  <c:v>1.29903769</c:v>
                </c:pt>
                <c:pt idx="216">
                  <c:v>1.28812141</c:v>
                </c:pt>
                <c:pt idx="217">
                  <c:v>1.27720513</c:v>
                </c:pt>
                <c:pt idx="218">
                  <c:v>1.26628885</c:v>
                </c:pt>
                <c:pt idx="219">
                  <c:v>1.25537257</c:v>
                </c:pt>
                <c:pt idx="220">
                  <c:v>1.24445629</c:v>
                </c:pt>
                <c:pt idx="221">
                  <c:v>1.23354001</c:v>
                </c:pt>
                <c:pt idx="222">
                  <c:v>1.22262373</c:v>
                </c:pt>
                <c:pt idx="223">
                  <c:v>1.21170745</c:v>
                </c:pt>
                <c:pt idx="224">
                  <c:v>1.20079117</c:v>
                </c:pt>
                <c:pt idx="225">
                  <c:v>1.18987489</c:v>
                </c:pt>
                <c:pt idx="226">
                  <c:v>1.17895861</c:v>
                </c:pt>
                <c:pt idx="227">
                  <c:v>1.16804233</c:v>
                </c:pt>
                <c:pt idx="228">
                  <c:v>1.15712605</c:v>
                </c:pt>
                <c:pt idx="229">
                  <c:v>1.14620977</c:v>
                </c:pt>
                <c:pt idx="230">
                  <c:v>1.13529349</c:v>
                </c:pt>
                <c:pt idx="231">
                  <c:v>1.12437721</c:v>
                </c:pt>
                <c:pt idx="232">
                  <c:v>1.11346093</c:v>
                </c:pt>
                <c:pt idx="233">
                  <c:v>1.10254465</c:v>
                </c:pt>
                <c:pt idx="234">
                  <c:v>1.09162837</c:v>
                </c:pt>
                <c:pt idx="235">
                  <c:v>1.08071209</c:v>
                </c:pt>
                <c:pt idx="236">
                  <c:v>1.06979581</c:v>
                </c:pt>
                <c:pt idx="237">
                  <c:v>1.05887953</c:v>
                </c:pt>
                <c:pt idx="238">
                  <c:v>1.04796325</c:v>
                </c:pt>
                <c:pt idx="239">
                  <c:v>1.03704697</c:v>
                </c:pt>
                <c:pt idx="240">
                  <c:v>1.02613069</c:v>
                </c:pt>
                <c:pt idx="241">
                  <c:v>1.01521441</c:v>
                </c:pt>
                <c:pt idx="242">
                  <c:v>1.00429813</c:v>
                </c:pt>
                <c:pt idx="243">
                  <c:v>0.99338185</c:v>
                </c:pt>
                <c:pt idx="244">
                  <c:v>0.98246557</c:v>
                </c:pt>
                <c:pt idx="245">
                  <c:v>0.97154929</c:v>
                </c:pt>
                <c:pt idx="246">
                  <c:v>0.96063301</c:v>
                </c:pt>
                <c:pt idx="247">
                  <c:v>0.94971673</c:v>
                </c:pt>
                <c:pt idx="248">
                  <c:v>0.93880045</c:v>
                </c:pt>
                <c:pt idx="249">
                  <c:v>0.92788417</c:v>
                </c:pt>
                <c:pt idx="250">
                  <c:v>0.91696789</c:v>
                </c:pt>
                <c:pt idx="251">
                  <c:v>0.90605161</c:v>
                </c:pt>
                <c:pt idx="252">
                  <c:v>0.89513533</c:v>
                </c:pt>
                <c:pt idx="253">
                  <c:v>0.88421905</c:v>
                </c:pt>
                <c:pt idx="254">
                  <c:v>0.87330277</c:v>
                </c:pt>
                <c:pt idx="255">
                  <c:v>0.86238649</c:v>
                </c:pt>
                <c:pt idx="256">
                  <c:v>0.85147021</c:v>
                </c:pt>
                <c:pt idx="257">
                  <c:v>0.84055393</c:v>
                </c:pt>
                <c:pt idx="258">
                  <c:v>0.82963765</c:v>
                </c:pt>
                <c:pt idx="259">
                  <c:v>0.81872137</c:v>
                </c:pt>
                <c:pt idx="260">
                  <c:v>0.80780509</c:v>
                </c:pt>
                <c:pt idx="261">
                  <c:v>0.79688881</c:v>
                </c:pt>
                <c:pt idx="262">
                  <c:v>0.78597253</c:v>
                </c:pt>
                <c:pt idx="263">
                  <c:v>0.77505625</c:v>
                </c:pt>
                <c:pt idx="264">
                  <c:v>0.76413997</c:v>
                </c:pt>
                <c:pt idx="265">
                  <c:v>0.75322369</c:v>
                </c:pt>
                <c:pt idx="266">
                  <c:v>0.74230741</c:v>
                </c:pt>
                <c:pt idx="267">
                  <c:v>0.73139113</c:v>
                </c:pt>
                <c:pt idx="268">
                  <c:v>0.72047485</c:v>
                </c:pt>
                <c:pt idx="269">
                  <c:v>0.70955857</c:v>
                </c:pt>
                <c:pt idx="270">
                  <c:v>0.69864229</c:v>
                </c:pt>
                <c:pt idx="271">
                  <c:v>0.68772601</c:v>
                </c:pt>
                <c:pt idx="272">
                  <c:v>0.67680973</c:v>
                </c:pt>
                <c:pt idx="273">
                  <c:v>0.66589345</c:v>
                </c:pt>
                <c:pt idx="274">
                  <c:v>0.65497717</c:v>
                </c:pt>
                <c:pt idx="275">
                  <c:v>0.64406089</c:v>
                </c:pt>
                <c:pt idx="276">
                  <c:v>0.63314461</c:v>
                </c:pt>
                <c:pt idx="277">
                  <c:v>0.62222833</c:v>
                </c:pt>
                <c:pt idx="278">
                  <c:v>0.61131205</c:v>
                </c:pt>
                <c:pt idx="279">
                  <c:v>0.60039577</c:v>
                </c:pt>
                <c:pt idx="280">
                  <c:v>0.58947949</c:v>
                </c:pt>
                <c:pt idx="281">
                  <c:v>0.57856321</c:v>
                </c:pt>
                <c:pt idx="282">
                  <c:v>0.56764693</c:v>
                </c:pt>
                <c:pt idx="283">
                  <c:v>0.55673065</c:v>
                </c:pt>
                <c:pt idx="284">
                  <c:v>0.54581437</c:v>
                </c:pt>
                <c:pt idx="285">
                  <c:v>0.53489809</c:v>
                </c:pt>
                <c:pt idx="286">
                  <c:v>0.52398181</c:v>
                </c:pt>
                <c:pt idx="287">
                  <c:v>0.51306553</c:v>
                </c:pt>
                <c:pt idx="288">
                  <c:v>0.50214925</c:v>
                </c:pt>
                <c:pt idx="289">
                  <c:v>0.49123297</c:v>
                </c:pt>
                <c:pt idx="290">
                  <c:v>0.48031669</c:v>
                </c:pt>
                <c:pt idx="291">
                  <c:v>0.46940041</c:v>
                </c:pt>
                <c:pt idx="292">
                  <c:v>0.45848413</c:v>
                </c:pt>
                <c:pt idx="293">
                  <c:v>0.44756785</c:v>
                </c:pt>
                <c:pt idx="294">
                  <c:v>0.43665157</c:v>
                </c:pt>
                <c:pt idx="295">
                  <c:v>0.42573529</c:v>
                </c:pt>
                <c:pt idx="296">
                  <c:v>0.41481901</c:v>
                </c:pt>
                <c:pt idx="297">
                  <c:v>0.40390273</c:v>
                </c:pt>
                <c:pt idx="298">
                  <c:v>0.39298645</c:v>
                </c:pt>
                <c:pt idx="299">
                  <c:v>0.38207017</c:v>
                </c:pt>
                <c:pt idx="300">
                  <c:v>0.37115389</c:v>
                </c:pt>
                <c:pt idx="301">
                  <c:v>0.36023761</c:v>
                </c:pt>
                <c:pt idx="302">
                  <c:v>0.34932133</c:v>
                </c:pt>
                <c:pt idx="303">
                  <c:v>0.33840505</c:v>
                </c:pt>
                <c:pt idx="304">
                  <c:v>0.32748877</c:v>
                </c:pt>
                <c:pt idx="305">
                  <c:v>0.31657249</c:v>
                </c:pt>
                <c:pt idx="306">
                  <c:v>0.30565621</c:v>
                </c:pt>
                <c:pt idx="307">
                  <c:v>0.29473993</c:v>
                </c:pt>
                <c:pt idx="308">
                  <c:v>0.28382365</c:v>
                </c:pt>
                <c:pt idx="309">
                  <c:v>0.27290737</c:v>
                </c:pt>
                <c:pt idx="310">
                  <c:v>0.26199109</c:v>
                </c:pt>
                <c:pt idx="311">
                  <c:v>0.25107481</c:v>
                </c:pt>
                <c:pt idx="312">
                  <c:v>0.24015853</c:v>
                </c:pt>
                <c:pt idx="313">
                  <c:v>0.22924225</c:v>
                </c:pt>
                <c:pt idx="314">
                  <c:v>0.21832597</c:v>
                </c:pt>
                <c:pt idx="315">
                  <c:v>0.20740969</c:v>
                </c:pt>
                <c:pt idx="316">
                  <c:v>0.19649341</c:v>
                </c:pt>
                <c:pt idx="317">
                  <c:v>0.18557713</c:v>
                </c:pt>
                <c:pt idx="318">
                  <c:v>0.17466085</c:v>
                </c:pt>
                <c:pt idx="319">
                  <c:v>0.16374457</c:v>
                </c:pt>
                <c:pt idx="320">
                  <c:v>0.15282829</c:v>
                </c:pt>
                <c:pt idx="321">
                  <c:v>0.14191201</c:v>
                </c:pt>
                <c:pt idx="322">
                  <c:v>0.13099573</c:v>
                </c:pt>
                <c:pt idx="323">
                  <c:v>0.12007945</c:v>
                </c:pt>
                <c:pt idx="324">
                  <c:v>0.10916317</c:v>
                </c:pt>
                <c:pt idx="325">
                  <c:v>0.09824689</c:v>
                </c:pt>
                <c:pt idx="326">
                  <c:v>0.08733061</c:v>
                </c:pt>
                <c:pt idx="327">
                  <c:v>0.07641433</c:v>
                </c:pt>
                <c:pt idx="328">
                  <c:v>0.06549805</c:v>
                </c:pt>
                <c:pt idx="329">
                  <c:v>0.05458177</c:v>
                </c:pt>
                <c:pt idx="330">
                  <c:v>0.04366549</c:v>
                </c:pt>
                <c:pt idx="331">
                  <c:v>0.03274921</c:v>
                </c:pt>
                <c:pt idx="332">
                  <c:v>0.02183293</c:v>
                </c:pt>
                <c:pt idx="333">
                  <c:v>0.01091665</c:v>
                </c:pt>
                <c:pt idx="334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LS Hauss"/>
                  <a:ea typeface="ALS Hauss"/>
                  <a:cs typeface="ALS Haus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6D0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334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7D6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6F3E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1717"/>
              </a:solidFill>
              <a:latin typeface="ALS Hauss"/>
              <a:ea typeface="ALS Hauss"/>
              <a:cs typeface="ALS Hauss"/>
            </a:defRPr>
          </a:pPr>
        </a:p>
      </c:txPr>
    </c:legend>
    <c:plotVisOnly val="1"/>
  </c:chart>
  <c:spPr>
    <a:solidFill xmlns:a="http://schemas.openxmlformats.org/drawingml/2006/main">
      <a:srgbClr val="F6F3E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Проценты</c:v>
          </c:tx>
          <c:dPt>
            <c:idx val="0"/>
            <c:invertIfNegative val="0"/>
            <c:spPr>
              <a:solidFill xmlns:a="http://schemas.openxmlformats.org/drawingml/2006/main">
                <a:srgbClr val="3957C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D5CE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C8837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ANN</c:v>
                </c:pt>
                <c:pt idx="1">
                  <c:v>SIMPLE</c:v>
                </c:pt>
                <c:pt idx="2">
                  <c:v>RGM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5.03903317</c:v>
                </c:pt>
                <c:pt idx="1">
                  <c:v>7.60423654</c:v>
                </c:pt>
                <c:pt idx="2">
                  <c:v>3.81298412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solidFill>
                    <a:srgbClr val="171717"/>
                  </a:solidFill>
                  <a:latin typeface="ALS Hauss"/>
                  <a:ea typeface="ALS Hauss"/>
                  <a:cs typeface="ALS Haus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6D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6F3E8"/>
        </a:solidFill>
      </c:spPr>
    </c:plotArea>
    <c:plotVisOnly val="1"/>
  </c:chart>
  <c:spPr>
    <a:solidFill xmlns:a="http://schemas.openxmlformats.org/drawingml/2006/main">
      <a:srgbClr val="F6F3E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957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ТЕНЕВОЕ ПРАВИТЕЛЬСТВО">
            <a:extLst xmlns:a="http://schemas.openxmlformats.org/drawingml/2006/main">
              <a:ext uri="{FF2B5EF4-FFF2-40B4-BE49-F238E27FC236}">
                <a16:creationId xmlns:a16="http://schemas.microsoft.com/office/drawing/2014/main" id="{8E1540AD-BCC7-4866-8168-F3CB555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18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ТЕНЕВОЕ ПРАВИТЕЛЬСТВО</a:t>
            </a:r>
          </a:p>
        </p:txBody>
      </p:sp>
      <p:sp>
        <p:nvSpPr>
          <p:cNvPr id="2" name="Факторный">
            <a:extLst xmlns:a="http://schemas.openxmlformats.org/drawingml/2006/main">
              <a:ext uri="{FF2B5EF4-FFF2-40B4-BE49-F238E27FC236}">
                <a16:creationId xmlns:a16="http://schemas.microsoft.com/office/drawing/2014/main" id="{51F1D7FA-A569-4C5E-842A-D22D313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7429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Факторный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анализ изменения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0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Economic Capital</a:t>
            </a:r>
          </a:p>
        </p:txBody>
      </p:sp>
      <p:sp>
        <p:nvSpPr>
          <p:cNvPr id="3" name="Результаты первого спринта">
            <a:extLst xmlns:a="http://schemas.openxmlformats.org/drawingml/2006/main">
              <a:ext uri="{FF2B5EF4-FFF2-40B4-BE49-F238E27FC236}">
                <a16:creationId xmlns:a16="http://schemas.microsoft.com/office/drawing/2014/main" id="{0ACC54EA-0174-4837-B172-E886A7AE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2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2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Результаты первого спринта</a:t>
            </a:r>
          </a:p>
        </p:txBody>
      </p:sp>
      <p:sp>
        <p:nvSpPr>
          <p:cNvPr id="4" name="Денежные потоки сделки">
            <a:extLst xmlns:a="http://schemas.openxmlformats.org/drawingml/2006/main">
              <a:ext uri="{FF2B5EF4-FFF2-40B4-BE49-F238E27FC236}">
                <a16:creationId xmlns:a16="http://schemas.microsoft.com/office/drawing/2014/main" id="{2B4240E2-2B0A-4E1A-9FEB-94DD7C16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Денежные потоки сделки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и расчётная база для анализа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9BD7A-049D-42FB-8943-62706C358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9d2734d624130"/>
          <a:stretch xmlns:a="http://schemas.openxmlformats.org/drawingml/2006/main"/>
        </p:blipFill>
        <p:spPr>
          <a:xfrm xmlns:a="http://schemas.openxmlformats.org/drawingml/2006/main">
            <a:off x="7324725" y="2676525"/>
            <a:ext cx="4533900" cy="3400425"/>
          </a:xfrm>
          <a:prstGeom xmlns:a="http://schemas.openxmlformats.org/drawingml/2006/main" prst="rect">
            <a:avLst/>
          </a:prstGeom>
        </p:spPr>
      </p:pic>
      <p:sp>
        <p:nvSpPr>
          <p:cNvPr id="6" name="01 / 14">
            <a:extLst xmlns:a="http://schemas.openxmlformats.org/drawingml/2006/main">
              <a:ext uri="{FF2B5EF4-FFF2-40B4-BE49-F238E27FC236}">
                <a16:creationId xmlns:a16="http://schemas.microsoft.com/office/drawing/2014/main" id="{C58CFAEF-FA4F-4CEC-92EF-057C772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1540695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Наше место в общем кейсе">
            <a:extLst xmlns:a="http://schemas.openxmlformats.org/drawingml/2006/main">
              <a:ext uri="{FF2B5EF4-FFF2-40B4-BE49-F238E27FC236}">
                <a16:creationId xmlns:a16="http://schemas.microsoft.com/office/drawing/2014/main" id="{56CD4ECA-2788-40A1-8845-D703FD30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Наше место в общем кейсе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53381-75FD-4CB6-8662-2EBA1279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19275"/>
            <a:ext cx="406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BFB68B0-03A6-4CC3-914F-A80AC94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01</a:t>
            </a:r>
          </a:p>
        </p:txBody>
      </p:sp>
      <p:sp>
        <p:nvSpPr>
          <p:cNvPr id="4" name="Денежные">
            <a:extLst xmlns:a="http://schemas.openxmlformats.org/drawingml/2006/main">
              <a:ext uri="{FF2B5EF4-FFF2-40B4-BE49-F238E27FC236}">
                <a16:creationId xmlns:a16="http://schemas.microsoft.com/office/drawing/2014/main" id="{9F309F15-1F5C-4AEB-A53F-6F4E05A1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Денежные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потоки</a:t>
            </a:r>
          </a:p>
        </p:txBody>
      </p:sp>
      <p:sp>
        <p:nvSpPr>
          <p:cNvPr id="5" name="Графики платежей">
            <a:extLst xmlns:a="http://schemas.openxmlformats.org/drawingml/2006/main">
              <a:ext uri="{FF2B5EF4-FFF2-40B4-BE49-F238E27FC236}">
                <a16:creationId xmlns:a16="http://schemas.microsoft.com/office/drawing/2014/main" id="{0A33D3AA-EC94-488E-8E09-E25D83BC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Графики платежей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и расчёт стоимости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22B42-974A-42C1-AED2-F373CE20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819275"/>
            <a:ext cx="406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D792E41B-F1C4-45F6-87EF-A2251E47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114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02</a:t>
            </a:r>
          </a:p>
        </p:txBody>
      </p:sp>
      <p:sp>
        <p:nvSpPr>
          <p:cNvPr id="8" name="Сценарии">
            <a:extLst xmlns:a="http://schemas.openxmlformats.org/drawingml/2006/main">
              <a:ext uri="{FF2B5EF4-FFF2-40B4-BE49-F238E27FC236}">
                <a16:creationId xmlns:a16="http://schemas.microsoft.com/office/drawing/2014/main" id="{127C55B5-5129-4B9A-881E-A48295E7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Сценарии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и капитал</a:t>
            </a:r>
          </a:p>
        </p:txBody>
      </p:sp>
      <p:sp>
        <p:nvSpPr>
          <p:cNvPr id="9" name="Кривые ставок,">
            <a:extLst xmlns:a="http://schemas.openxmlformats.org/drawingml/2006/main">
              <a:ext uri="{FF2B5EF4-FFF2-40B4-BE49-F238E27FC236}">
                <a16:creationId xmlns:a16="http://schemas.microsoft.com/office/drawing/2014/main" id="{704E1CAD-3DF0-45B2-8BFF-A8420DA7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43338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Кривые ставок,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стресс-сценарии, 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81093-38D2-4E2F-9CF6-C8399010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19275"/>
            <a:ext cx="406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06BD4C4D-66B4-4778-91D2-2EFAAFBD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114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03</a:t>
            </a:r>
          </a:p>
        </p:txBody>
      </p:sp>
      <p:sp>
        <p:nvSpPr>
          <p:cNvPr id="12" name="Факторный">
            <a:extLst xmlns:a="http://schemas.openxmlformats.org/drawingml/2006/main">
              <a:ext uri="{FF2B5EF4-FFF2-40B4-BE49-F238E27FC236}">
                <a16:creationId xmlns:a16="http://schemas.microsoft.com/office/drawing/2014/main" id="{5F527230-417C-4068-AFEC-3732A7F7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9146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Факторный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анализ</a:t>
            </a:r>
          </a:p>
        </p:txBody>
      </p:sp>
      <p:sp>
        <p:nvSpPr>
          <p:cNvPr id="13" name="Вклады факторов">
            <a:extLst xmlns:a="http://schemas.openxmlformats.org/drawingml/2006/main">
              <a:ext uri="{FF2B5EF4-FFF2-40B4-BE49-F238E27FC236}">
                <a16:creationId xmlns:a16="http://schemas.microsoft.com/office/drawing/2014/main" id="{8A774B53-41A3-405C-B10A-B0FA125C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43338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Вклады факторов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и их взаимодействия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A728B-D4E9-4415-81FC-4A13A81B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2125"/>
            <a:ext cx="12192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837"/>
          </a:solidFill>
          <a:ln xmlns:a="http://schemas.openxmlformats.org/drawingml/2006/main" w="0">
            <a:noFill/>
          </a:ln>
        </p:spPr>
      </p:sp>
      <p:sp>
        <p:nvSpPr>
          <p:cNvPr id="15" name="Наш спринт: подготовить расчётную базу для части 3">
            <a:extLst xmlns:a="http://schemas.openxmlformats.org/drawingml/2006/main">
              <a:ext uri="{FF2B5EF4-FFF2-40B4-BE49-F238E27FC236}">
                <a16:creationId xmlns:a16="http://schemas.microsoft.com/office/drawing/2014/main" id="{A23D4A50-BE01-419F-B96D-8230ED60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Наш спринт: подготовить расчётную базу для части 3</a:t>
            </a:r>
          </a:p>
        </p:txBody>
      </p:sp>
      <p:sp>
        <p:nvSpPr>
          <p:cNvPr id="16" name="ARIMAX: отдельная задача прогноза новых выдач для динамического баланс">
            <a:extLst xmlns:a="http://schemas.openxmlformats.org/drawingml/2006/main">
              <a:ext uri="{FF2B5EF4-FFF2-40B4-BE49-F238E27FC236}">
                <a16:creationId xmlns:a16="http://schemas.microsoft.com/office/drawing/2014/main" id="{C48444EC-BA87-440A-AF28-D2236510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3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ARIMAX: отдельная задача прогноза новых выдач для динамического баланса</a:t>
            </a:r>
          </a:p>
        </p:txBody>
      </p:sp>
      <p:sp>
        <p:nvSpPr>
          <p:cNvPr id="17" name="02 / 14">
            <a:extLst xmlns:a="http://schemas.openxmlformats.org/drawingml/2006/main">
              <a:ext uri="{FF2B5EF4-FFF2-40B4-BE49-F238E27FC236}">
                <a16:creationId xmlns:a16="http://schemas.microsoft.com/office/drawing/2014/main" id="{56AD4FAA-B61E-4A84-8097-6635982A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408058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ять задач первого спринта">
            <a:extLst xmlns:a="http://schemas.openxmlformats.org/drawingml/2006/main">
              <a:ext uri="{FF2B5EF4-FFF2-40B4-BE49-F238E27FC236}">
                <a16:creationId xmlns:a16="http://schemas.microsoft.com/office/drawing/2014/main" id="{9E16E136-4EE2-43F9-915B-0DFBA8AF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Пять задач первого спринта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D411B-A1C5-4310-A40C-A3E3A2D8E454}"/>
              </a:ext>
            </a:extLst>
          </p:cNvPr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79248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33700"/>
                <a:gridCol w="4991100"/>
              </a:tblGrid>
              <a:tr h="654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Задача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Что подготовлено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</a:tr>
              <a:tr h="654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Разобрать исходный ANN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Формулы, календарь и разбор платежей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  <a:tr h="654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Рассчитать SIMPLE и RGM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Полные графики на тех же параметрах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Дисконтировать потоки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Дата, ставка, метод и сравнение PV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  <a:tr h="654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Описать входы и выходы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JSON Schema и примеры запроса / ответа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Предложить границы C++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65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Интерфейс, функции, проверки и тесты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EC781-8C30-482A-ADDA-5CD1A9B6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09725"/>
            <a:ext cx="3286125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156E4-52C5-4F17-AAB7-45CDDB8160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a8173ccf44635"/>
          <a:stretch xmlns:a="http://schemas.openxmlformats.org/drawingml/2006/main"/>
        </p:blipFill>
        <p:spPr>
          <a:xfrm xmlns:a="http://schemas.openxmlformats.org/drawingml/2006/main">
            <a:off x="9096375" y="2470150"/>
            <a:ext cx="2819400" cy="1879600"/>
          </a:xfrm>
          <a:prstGeom xmlns:a="http://schemas.openxmlformats.org/drawingml/2006/main" prst="rect">
            <a:avLst/>
          </a:prstGeom>
        </p:spPr>
      </p:pic>
      <p:sp>
        <p:nvSpPr>
          <p:cNvPr id="5" name="5 задач выполнены">
            <a:extLst xmlns:a="http://schemas.openxmlformats.org/drawingml/2006/main">
              <a:ext uri="{FF2B5EF4-FFF2-40B4-BE49-F238E27FC236}">
                <a16:creationId xmlns:a16="http://schemas.microsoft.com/office/drawing/2014/main" id="{B8657CDD-D9E9-40E0-8AEB-7110D6DF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72050"/>
            <a:ext cx="2752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5 задач выполнены</a:t>
            </a:r>
          </a:p>
        </p:txBody>
      </p:sp>
      <p:sp>
        <p:nvSpPr>
          <p:cNvPr id="6" name="Результаты можно повторить из входного JSON">
            <a:extLst xmlns:a="http://schemas.openxmlformats.org/drawingml/2006/main">
              <a:ext uri="{FF2B5EF4-FFF2-40B4-BE49-F238E27FC236}">
                <a16:creationId xmlns:a16="http://schemas.microsoft.com/office/drawing/2014/main" id="{7D73EF16-2AE3-455E-9ACF-519ACBBD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325">
                <a:solidFill>
                  <a:srgbClr val="3957C7"/>
                </a:solidFill>
                <a:latin typeface="ALS Gorizont 2.1 Expanded"/>
                <a:ea typeface="ALS Gorizont 2.1 Expanded"/>
                <a:cs typeface="ALS Gorizont 2.1 Expanded"/>
              </a:rPr>
              <a:t>Результаты можно повторить из входного JSON</a:t>
            </a:r>
          </a:p>
        </p:txBody>
      </p:sp>
      <p:sp>
        <p:nvSpPr>
          <p:cNvPr id="7" name="03 / 14">
            <a:extLst xmlns:a="http://schemas.openxmlformats.org/drawingml/2006/main">
              <a:ext uri="{FF2B5EF4-FFF2-40B4-BE49-F238E27FC236}">
                <a16:creationId xmlns:a16="http://schemas.microsoft.com/office/drawing/2014/main" id="{A0E52896-BDFF-44FD-9C65-C5B07B38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281802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957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A9F9F-7DA9-480F-BD04-FF54727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837"/>
          </a:solidFill>
          <a:ln xmlns:a="http://schemas.openxmlformats.org/drawingml/2006/main" w="0">
            <a:noFill/>
          </a:ln>
        </p:spPr>
      </p:sp>
      <p:sp>
        <p:nvSpPr>
          <p:cNvPr id="2" name="Одна сделка.">
            <a:extLst xmlns:a="http://schemas.openxmlformats.org/drawingml/2006/main">
              <a:ext uri="{FF2B5EF4-FFF2-40B4-BE49-F238E27FC236}">
                <a16:creationId xmlns:a16="http://schemas.microsoft.com/office/drawing/2014/main" id="{FC0088CB-088F-46F9-85F6-D75050BA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Одна сделка.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Общие параметры.</a:t>
            </a:r>
          </a:p>
        </p:txBody>
      </p:sp>
      <p:sp>
        <p:nvSpPr>
          <p:cNvPr id="3" name="3 646 037,89">
            <a:extLst xmlns:a="http://schemas.openxmlformats.org/drawingml/2006/main">
              <a:ext uri="{FF2B5EF4-FFF2-40B4-BE49-F238E27FC236}">
                <a16:creationId xmlns:a16="http://schemas.microsoft.com/office/drawing/2014/main" id="{3C0F1275-BD4A-4C71-9A06-12485D3C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381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48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3 646 037,89</a:t>
            </a:r>
          </a:p>
        </p:txBody>
      </p:sp>
      <p:sp>
        <p:nvSpPr>
          <p:cNvPr id="4" name="RUB  •  остаток на дату оценки">
            <a:extLst xmlns:a="http://schemas.openxmlformats.org/drawingml/2006/main">
              <a:ext uri="{FF2B5EF4-FFF2-40B4-BE49-F238E27FC236}">
                <a16:creationId xmlns:a16="http://schemas.microsoft.com/office/drawing/2014/main" id="{714FFE87-9500-420C-B99E-95EB9D3A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5381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RUB  •  остаток на дату оценки</a:t>
            </a:r>
          </a:p>
        </p:txBody>
      </p:sp>
      <p:sp>
        <p:nvSpPr>
          <p:cNvPr id="5" name="7,5% годовых">
            <a:extLst xmlns:a="http://schemas.openxmlformats.org/drawingml/2006/main">
              <a:ext uri="{FF2B5EF4-FFF2-40B4-BE49-F238E27FC236}">
                <a16:creationId xmlns:a16="http://schemas.microsoft.com/office/drawing/2014/main" id="{54D92063-C2E1-495E-800A-FE7D933D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381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1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7,5% годовых</a:t>
            </a:r>
          </a:p>
        </p:txBody>
      </p:sp>
      <p:sp>
        <p:nvSpPr>
          <p:cNvPr id="6" name="Фиксированная кредитная ставка">
            <a:extLst xmlns:a="http://schemas.openxmlformats.org/drawingml/2006/main">
              <a:ext uri="{FF2B5EF4-FFF2-40B4-BE49-F238E27FC236}">
                <a16:creationId xmlns:a16="http://schemas.microsoft.com/office/drawing/2014/main" id="{6561A697-A4AD-43AC-A03C-A56966DD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538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Фиксированная кредитная ставка</a:t>
            </a:r>
          </a:p>
        </p:txBody>
      </p:sp>
      <p:sp>
        <p:nvSpPr>
          <p:cNvPr id="7" name="Календарь расчёта">
            <a:extLst xmlns:a="http://schemas.openxmlformats.org/drawingml/2006/main">
              <a:ext uri="{FF2B5EF4-FFF2-40B4-BE49-F238E27FC236}">
                <a16:creationId xmlns:a16="http://schemas.microsoft.com/office/drawing/2014/main" id="{19E717F4-FDCF-4CBB-9B0E-4912AAFF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858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6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Календарь расчёта</a:t>
            </a:r>
          </a:p>
        </p:txBody>
      </p:sp>
      <p:sp>
        <p:nvSpPr>
          <p:cNvPr id="8" name="31.08.2022">
            <a:extLst xmlns:a="http://schemas.openxmlformats.org/drawingml/2006/main">
              <a:ext uri="{FF2B5EF4-FFF2-40B4-BE49-F238E27FC236}">
                <a16:creationId xmlns:a16="http://schemas.microsoft.com/office/drawing/2014/main" id="{B059383A-EA0C-473E-9F4E-5D30CB92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31.08.2022</a:t>
            </a:r>
          </a:p>
        </p:txBody>
      </p:sp>
      <p:sp>
        <p:nvSpPr>
          <p:cNvPr id="9" name="Дата оценки">
            <a:extLst xmlns:a="http://schemas.openxmlformats.org/drawingml/2006/main">
              <a:ext uri="{FF2B5EF4-FFF2-40B4-BE49-F238E27FC236}">
                <a16:creationId xmlns:a16="http://schemas.microsoft.com/office/drawing/2014/main" id="{F189B11B-90AE-43DF-8C63-E0F687C7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47900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Дата оценки</a:t>
            </a:r>
          </a:p>
        </p:txBody>
      </p:sp>
      <p:sp>
        <p:nvSpPr>
          <p:cNvPr id="10" name="22.09.2022">
            <a:extLst xmlns:a="http://schemas.openxmlformats.org/drawingml/2006/main">
              <a:ext uri="{FF2B5EF4-FFF2-40B4-BE49-F238E27FC236}">
                <a16:creationId xmlns:a16="http://schemas.microsoft.com/office/drawing/2014/main" id="{2871BD89-23BF-432D-8E53-0D94661D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9557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22.09.2022</a:t>
            </a:r>
          </a:p>
        </p:txBody>
      </p:sp>
      <p:sp>
        <p:nvSpPr>
          <p:cNvPr id="11" name="Первый платёж">
            <a:extLst xmlns:a="http://schemas.openxmlformats.org/drawingml/2006/main">
              <a:ext uri="{FF2B5EF4-FFF2-40B4-BE49-F238E27FC236}">
                <a16:creationId xmlns:a16="http://schemas.microsoft.com/office/drawing/2014/main" id="{9A94F5E3-1E99-4733-B0B3-0DDA265C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76575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Первый платёж</a:t>
            </a:r>
          </a:p>
        </p:txBody>
      </p:sp>
      <p:sp>
        <p:nvSpPr>
          <p:cNvPr id="12" name="15.06.2050">
            <a:extLst xmlns:a="http://schemas.openxmlformats.org/drawingml/2006/main">
              <a:ext uri="{FF2B5EF4-FFF2-40B4-BE49-F238E27FC236}">
                <a16:creationId xmlns:a16="http://schemas.microsoft.com/office/drawing/2014/main" id="{17413832-E01C-4C32-8F58-9CEE68A3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2425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15.06.2050</a:t>
            </a:r>
          </a:p>
        </p:txBody>
      </p:sp>
      <p:sp>
        <p:nvSpPr>
          <p:cNvPr id="13" name="Полное погашение">
            <a:extLst xmlns:a="http://schemas.openxmlformats.org/drawingml/2006/main">
              <a:ext uri="{FF2B5EF4-FFF2-40B4-BE49-F238E27FC236}">
                <a16:creationId xmlns:a16="http://schemas.microsoft.com/office/drawing/2014/main" id="{DA0DB799-8FA0-44B2-BDF0-4A4A074C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Полное погашение</a:t>
            </a:r>
          </a:p>
        </p:txBody>
      </p:sp>
      <p:sp>
        <p:nvSpPr>
          <p:cNvPr id="14" name="334 платежа">
            <a:extLst xmlns:a="http://schemas.openxmlformats.org/drawingml/2006/main">
              <a:ext uri="{FF2B5EF4-FFF2-40B4-BE49-F238E27FC236}">
                <a16:creationId xmlns:a16="http://schemas.microsoft.com/office/drawing/2014/main" id="{2B11321F-B638-41CE-9032-AE98ACC5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5292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334 платежа</a:t>
            </a:r>
          </a:p>
        </p:txBody>
      </p:sp>
      <p:sp>
        <p:nvSpPr>
          <p:cNvPr id="15" name="Ежемесячный график">
            <a:extLst xmlns:a="http://schemas.openxmlformats.org/drawingml/2006/main">
              <a:ext uri="{FF2B5EF4-FFF2-40B4-BE49-F238E27FC236}">
                <a16:creationId xmlns:a16="http://schemas.microsoft.com/office/drawing/2014/main" id="{7DB7F19D-2D9C-447E-817E-0AACACB1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33925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Ежемесячный график</a:t>
            </a:r>
          </a:p>
        </p:txBody>
      </p:sp>
      <p:sp>
        <p:nvSpPr>
          <p:cNvPr id="16" name="ACT/365F">
            <a:extLst xmlns:a="http://schemas.openxmlformats.org/drawingml/2006/main">
              <a:ext uri="{FF2B5EF4-FFF2-40B4-BE49-F238E27FC236}">
                <a16:creationId xmlns:a16="http://schemas.microsoft.com/office/drawing/2014/main" id="{4317564B-F4C4-43C1-AEBB-83A8AB54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816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ACT/365F</a:t>
            </a:r>
          </a:p>
        </p:txBody>
      </p:sp>
      <p:sp>
        <p:nvSpPr>
          <p:cNvPr id="17" name="Фактические дни / 365">
            <a:extLst xmlns:a="http://schemas.openxmlformats.org/drawingml/2006/main">
              <a:ext uri="{FF2B5EF4-FFF2-40B4-BE49-F238E27FC236}">
                <a16:creationId xmlns:a16="http://schemas.microsoft.com/office/drawing/2014/main" id="{4CE3959F-DA6D-4539-ACAB-C86DE075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62600"/>
            <a:ext cx="2895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Фактические дни / 365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72800-360F-4B75-BCEA-B723DAAE9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0ad11f2e547a6"/>
          <a:stretch xmlns:a="http://schemas.openxmlformats.org/drawingml/2006/main"/>
        </p:blipFill>
        <p:spPr>
          <a:xfrm xmlns:a="http://schemas.openxmlformats.org/drawingml/2006/main">
            <a:off x="9886950" y="2559844"/>
            <a:ext cx="1990725" cy="2986088"/>
          </a:xfrm>
          <a:prstGeom xmlns:a="http://schemas.openxmlformats.org/drawingml/2006/main" prst="rect">
            <a:avLst/>
          </a:prstGeom>
        </p:spPr>
      </p:pic>
      <p:sp>
        <p:nvSpPr>
          <p:cNvPr id="19" name="Дисконтная ставка 7,5% задаётся отдельно как учебное допущение">
            <a:extLst xmlns:a="http://schemas.openxmlformats.org/drawingml/2006/main">
              <a:ext uri="{FF2B5EF4-FFF2-40B4-BE49-F238E27FC236}">
                <a16:creationId xmlns:a16="http://schemas.microsoft.com/office/drawing/2014/main" id="{952DA59E-CA2F-4B7F-A43C-7DD8EFE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5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Дисконтная ставка 7,5% задаётся отдельно как учебное допущение</a:t>
            </a:r>
          </a:p>
        </p:txBody>
      </p:sp>
      <p:sp>
        <p:nvSpPr>
          <p:cNvPr id="20" name="04 / 14">
            <a:extLst xmlns:a="http://schemas.openxmlformats.org/drawingml/2006/main">
              <a:ext uri="{FF2B5EF4-FFF2-40B4-BE49-F238E27FC236}">
                <a16:creationId xmlns:a16="http://schemas.microsoft.com/office/drawing/2014/main" id="{B01758A7-CB51-4C21-B6D9-1F4C110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893575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к получаются платежи ANN">
            <a:extLst xmlns:a="http://schemas.openxmlformats.org/drawingml/2006/main">
              <a:ext uri="{FF2B5EF4-FFF2-40B4-BE49-F238E27FC236}">
                <a16:creationId xmlns:a16="http://schemas.microsoft.com/office/drawing/2014/main" id="{A5746262-80EA-4C75-99D3-0AD9D641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Как получаются платежи ANN</a:t>
            </a:r>
          </a:p>
        </p:txBody>
      </p:sp>
      <p:sp>
        <p:nvSpPr>
          <p:cNvPr id="2" name="qᵢ = 0,075 × dᵢ / 365">
            <a:extLst xmlns:a="http://schemas.openxmlformats.org/drawingml/2006/main">
              <a:ext uri="{FF2B5EF4-FFF2-40B4-BE49-F238E27FC236}">
                <a16:creationId xmlns:a16="http://schemas.microsoft.com/office/drawing/2014/main" id="{635A82E7-77EB-42C5-84FF-D1EF111D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642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40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qᵢ = 0,075 × dᵢ / 365</a:t>
            </a:r>
          </a:p>
        </p:txBody>
      </p:sp>
      <p:sp>
        <p:nvSpPr>
          <p:cNvPr id="3" name="A = ROUND(P₀ / ΣDᵢ, 2) = 26 003,20 RUB">
            <a:extLst xmlns:a="http://schemas.openxmlformats.org/drawingml/2006/main">
              <a:ext uri="{FF2B5EF4-FFF2-40B4-BE49-F238E27FC236}">
                <a16:creationId xmlns:a16="http://schemas.microsoft.com/office/drawing/2014/main" id="{155A9492-432B-4DA7-BA1D-66BA0059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850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40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A = ROUND(P₀ / ΣDᵢ, 2) = 26 003,20 RUB</a:t>
            </a:r>
          </a:p>
        </p:txBody>
      </p:sp>
      <p:sp>
        <p:nvSpPr>
          <p:cNvPr id="4" name="Dᵢ = Dᵢ₋₁ / (1 + qᵢ)  •  D₀ = 1  •  ΣDᵢ = 140,21496">
            <a:extLst xmlns:a="http://schemas.openxmlformats.org/drawingml/2006/main">
              <a:ext uri="{FF2B5EF4-FFF2-40B4-BE49-F238E27FC236}">
                <a16:creationId xmlns:a16="http://schemas.microsoft.com/office/drawing/2014/main" id="{067C68E4-103F-4404-A0AD-DFE0E05F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850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0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Dᵢ = Dᵢ₋₁ / (1 + qᵢ)  •  D₀ = 1  •  ΣDᵢ = 140,21496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A15FD-7326-4DB8-A40C-ECDB96BB2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43e9b71234c21"/>
          <a:stretch xmlns:a="http://schemas.openxmlformats.org/drawingml/2006/main"/>
        </p:blipFill>
        <p:spPr>
          <a:xfrm xmlns:a="http://schemas.openxmlformats.org/drawingml/2006/main">
            <a:off x="9429750" y="1454150"/>
            <a:ext cx="2352675" cy="15684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4042F-7C10-46E8-9038-D82D51D67CFE}"/>
              </a:ext>
            </a:extLst>
          </p:cNvPr>
          <p:cNvGraphicFramePr/>
          <p:nvPr/>
        </p:nvGraphicFramePr>
        <p:xfrm>
          <a:off xmlns:a="http://schemas.openxmlformats.org/drawingml/2006/main" x="609600" y="3286125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1066800"/>
                <a:gridCol w="2552700"/>
                <a:gridCol w="2286000"/>
                <a:gridCol w="2990850"/>
              </a:tblGrid>
              <a:tr h="5476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Дата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Дней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Проценты, RUB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Тело, RUB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Остаток, RUB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</a:tr>
              <a:tr h="5476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22.09.2022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22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16 482,09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9 521,11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3 636 516,78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  <a:tr h="5476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22.10.2022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30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22 416,88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3 586,32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3 632 930,46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15.06.2050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24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127,62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25 877,84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0,00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3F2E1-A885-484F-B2B6-9328D16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8" name="Последний платёж 26 005,46 RUB закрывает остаток после округления">
            <a:extLst xmlns:a="http://schemas.openxmlformats.org/drawingml/2006/main">
              <a:ext uri="{FF2B5EF4-FFF2-40B4-BE49-F238E27FC236}">
                <a16:creationId xmlns:a16="http://schemas.microsoft.com/office/drawing/2014/main" id="{F1493078-4930-4543-86C0-781ABA12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Последний платёж 26 005,46 RUB закрывает остаток после округления</a:t>
            </a:r>
          </a:p>
        </p:txBody>
      </p:sp>
      <p:sp>
        <p:nvSpPr>
          <p:cNvPr id="9" name="05 / 14">
            <a:extLst xmlns:a="http://schemas.openxmlformats.org/drawingml/2006/main">
              <a:ext uri="{FF2B5EF4-FFF2-40B4-BE49-F238E27FC236}">
                <a16:creationId xmlns:a16="http://schemas.microsoft.com/office/drawing/2014/main" id="{BB49096C-82B3-4117-8AC6-58EC732A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2040217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9ED85-56C7-491C-B91C-622FBD39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6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2" name="ANN">
            <a:extLst xmlns:a="http://schemas.openxmlformats.org/drawingml/2006/main">
              <a:ext uri="{FF2B5EF4-FFF2-40B4-BE49-F238E27FC236}">
                <a16:creationId xmlns:a16="http://schemas.microsoft.com/office/drawing/2014/main" id="{72C3FA1A-9996-4773-B6B8-D586A5C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12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ANN</a:t>
            </a:r>
          </a:p>
        </p:txBody>
      </p:sp>
      <p:sp>
        <p:nvSpPr>
          <p:cNvPr id="3" name="Аннуитет">
            <a:extLst xmlns:a="http://schemas.openxmlformats.org/drawingml/2006/main">
              <a:ext uri="{FF2B5EF4-FFF2-40B4-BE49-F238E27FC236}">
                <a16:creationId xmlns:a16="http://schemas.microsoft.com/office/drawing/2014/main" id="{FAAC4434-1085-42DF-BCDA-986F0F4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Аннуитет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3E495-F15C-4DC8-B6E1-C9406302D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3537fec5c4890"/>
          <a:stretch xmlns:a="http://schemas.openxmlformats.org/drawingml/2006/main"/>
        </p:blipFill>
        <p:spPr>
          <a:xfrm xmlns:a="http://schemas.openxmlformats.org/drawingml/2006/main">
            <a:off x="647700" y="2076450"/>
            <a:ext cx="2771775" cy="1847850"/>
          </a:xfrm>
          <a:prstGeom xmlns:a="http://schemas.openxmlformats.org/drawingml/2006/main" prst="rect">
            <a:avLst/>
          </a:prstGeom>
        </p:spPr>
      </p:pic>
      <p:sp>
        <p:nvSpPr>
          <p:cNvPr id="5" name="Платёж почти постоянный.">
            <a:extLst xmlns:a="http://schemas.openxmlformats.org/drawingml/2006/main">
              <a:ext uri="{FF2B5EF4-FFF2-40B4-BE49-F238E27FC236}">
                <a16:creationId xmlns:a16="http://schemas.microsoft.com/office/drawing/2014/main" id="{C0FBA470-2F25-442F-BBA7-B3FFFFF1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257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Платёж почти постоянный.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Доли процентов и тела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меняются со временем.</a:t>
            </a:r>
          </a:p>
        </p:txBody>
      </p:sp>
      <p:sp>
        <p:nvSpPr>
          <p:cNvPr id="6" name="26 003,20 RUB">
            <a:extLst xmlns:a="http://schemas.openxmlformats.org/drawingml/2006/main">
              <a:ext uri="{FF2B5EF4-FFF2-40B4-BE49-F238E27FC236}">
                <a16:creationId xmlns:a16="http://schemas.microsoft.com/office/drawing/2014/main" id="{701D6143-8830-4E3E-AF10-D3FC9D0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26 003,20 RUB</a:t>
            </a:r>
          </a:p>
        </p:txBody>
      </p:sp>
      <p:sp>
        <p:nvSpPr>
          <p:cNvPr id="7" name="Регулярный платёж">
            <a:extLst xmlns:a="http://schemas.openxmlformats.org/drawingml/2006/main">
              <a:ext uri="{FF2B5EF4-FFF2-40B4-BE49-F238E27FC236}">
                <a16:creationId xmlns:a16="http://schemas.microsoft.com/office/drawing/2014/main" id="{DB224EAC-7630-459A-BC12-F7969B92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72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Регулярный платёж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F6EA5-9E44-4ED9-8BB2-ECC3D953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0"/>
            <a:ext cx="406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9" name="SIMPLE">
            <a:extLst xmlns:a="http://schemas.openxmlformats.org/drawingml/2006/main">
              <a:ext uri="{FF2B5EF4-FFF2-40B4-BE49-F238E27FC236}">
                <a16:creationId xmlns:a16="http://schemas.microsoft.com/office/drawing/2014/main" id="{E7A94F15-88DE-4AD4-8B32-D387A8AD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667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SIMPLE</a:t>
            </a:r>
          </a:p>
        </p:txBody>
      </p:sp>
      <p:sp>
        <p:nvSpPr>
          <p:cNvPr id="10" name="Тело в конце">
            <a:extLst xmlns:a="http://schemas.openxmlformats.org/drawingml/2006/main">
              <a:ext uri="{FF2B5EF4-FFF2-40B4-BE49-F238E27FC236}">
                <a16:creationId xmlns:a16="http://schemas.microsoft.com/office/drawing/2014/main" id="{EB0DE859-4992-41FC-A4C9-07465B21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137160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Тело в конце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D735E-C759-48AA-879C-D62C0683E6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8b2c2a14b4807"/>
          <a:stretch xmlns:a="http://schemas.openxmlformats.org/drawingml/2006/main"/>
        </p:blipFill>
        <p:spPr>
          <a:xfrm xmlns:a="http://schemas.openxmlformats.org/drawingml/2006/main">
            <a:off x="4711700" y="2076450"/>
            <a:ext cx="2771775" cy="1847850"/>
          </a:xfrm>
          <a:prstGeom xmlns:a="http://schemas.openxmlformats.org/drawingml/2006/main" prst="rect">
            <a:avLst/>
          </a:prstGeom>
        </p:spPr>
      </p:pic>
      <p:sp>
        <p:nvSpPr>
          <p:cNvPr id="12" name="Платим только проценты.">
            <a:extLst xmlns:a="http://schemas.openxmlformats.org/drawingml/2006/main">
              <a:ext uri="{FF2B5EF4-FFF2-40B4-BE49-F238E27FC236}">
                <a16:creationId xmlns:a16="http://schemas.microsoft.com/office/drawing/2014/main" id="{2E417330-B36A-40D1-AB19-77A0797C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171950"/>
            <a:ext cx="3257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Платим только проценты.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Основной долг возвращаем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в конце срока.</a:t>
            </a:r>
          </a:p>
        </p:txBody>
      </p:sp>
      <p:sp>
        <p:nvSpPr>
          <p:cNvPr id="13" name="3 664 018,35 RUB">
            <a:extLst xmlns:a="http://schemas.openxmlformats.org/drawingml/2006/main">
              <a:ext uri="{FF2B5EF4-FFF2-40B4-BE49-F238E27FC236}">
                <a16:creationId xmlns:a16="http://schemas.microsoft.com/office/drawing/2014/main" id="{4A7AF9D1-9A08-4C5D-A6C4-2E33A2E7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4483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3 664 018,35 RUB</a:t>
            </a:r>
          </a:p>
        </p:txBody>
      </p:sp>
      <p:sp>
        <p:nvSpPr>
          <p:cNvPr id="14" name="Последний платёж">
            <a:extLst xmlns:a="http://schemas.openxmlformats.org/drawingml/2006/main">
              <a:ext uri="{FF2B5EF4-FFF2-40B4-BE49-F238E27FC236}">
                <a16:creationId xmlns:a16="http://schemas.microsoft.com/office/drawing/2014/main" id="{FBBFA399-AFA3-4638-8711-4E1A13A1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972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Последний платёж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258FE-29F0-4EC2-AF3D-8280AC2D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0"/>
            <a:ext cx="406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837"/>
          </a:solidFill>
          <a:ln xmlns:a="http://schemas.openxmlformats.org/drawingml/2006/main" w="0">
            <a:noFill/>
          </a:ln>
        </p:spPr>
      </p:sp>
      <p:sp>
        <p:nvSpPr>
          <p:cNvPr id="16" name="RGM">
            <a:extLst xmlns:a="http://schemas.openxmlformats.org/drawingml/2006/main">
              <a:ext uri="{FF2B5EF4-FFF2-40B4-BE49-F238E27FC236}">
                <a16:creationId xmlns:a16="http://schemas.microsoft.com/office/drawing/2014/main" id="{9849E725-6218-4658-83A4-B82C6E02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466725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12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RGM</a:t>
            </a:r>
          </a:p>
        </p:txBody>
      </p:sp>
      <p:sp>
        <p:nvSpPr>
          <p:cNvPr id="17" name="Равное тело">
            <a:extLst xmlns:a="http://schemas.openxmlformats.org/drawingml/2006/main">
              <a:ext uri="{FF2B5EF4-FFF2-40B4-BE49-F238E27FC236}">
                <a16:creationId xmlns:a16="http://schemas.microsoft.com/office/drawing/2014/main" id="{4392343D-1DA0-4F44-A793-39E1C439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137160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Равное тело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76CAE-6C87-4F3E-8ADA-BE7484BB35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fe7b760a4459e"/>
          <a:stretch xmlns:a="http://schemas.openxmlformats.org/drawingml/2006/main"/>
        </p:blipFill>
        <p:spPr>
          <a:xfrm xmlns:a="http://schemas.openxmlformats.org/drawingml/2006/main">
            <a:off x="8775700" y="2076450"/>
            <a:ext cx="2771775" cy="1847850"/>
          </a:xfrm>
          <a:prstGeom xmlns:a="http://schemas.openxmlformats.org/drawingml/2006/main" prst="rect">
            <a:avLst/>
          </a:prstGeom>
        </p:spPr>
      </p:pic>
      <p:sp>
        <p:nvSpPr>
          <p:cNvPr id="19" name="Регулярно гасим равное тело.">
            <a:extLst xmlns:a="http://schemas.openxmlformats.org/drawingml/2006/main">
              <a:ext uri="{FF2B5EF4-FFF2-40B4-BE49-F238E27FC236}">
                <a16:creationId xmlns:a16="http://schemas.microsoft.com/office/drawing/2014/main" id="{0268E8A6-AA5D-4A58-830A-3C7BD292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4171950"/>
            <a:ext cx="3257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Регулярно гасим равное тело.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Проценты считаем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на оставшийся долг.</a:t>
            </a:r>
          </a:p>
        </p:txBody>
      </p:sp>
      <p:sp>
        <p:nvSpPr>
          <p:cNvPr id="20" name="10 916,28 RUB">
            <a:extLst xmlns:a="http://schemas.openxmlformats.org/drawingml/2006/main">
              <a:ext uri="{FF2B5EF4-FFF2-40B4-BE49-F238E27FC236}">
                <a16:creationId xmlns:a16="http://schemas.microsoft.com/office/drawing/2014/main" id="{9F3FDFFF-4055-401F-8184-4DDC01C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54483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3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10 916,28 RUB</a:t>
            </a:r>
          </a:p>
        </p:txBody>
      </p:sp>
      <p:sp>
        <p:nvSpPr>
          <p:cNvPr id="21" name="Регулярное тело">
            <a:extLst xmlns:a="http://schemas.openxmlformats.org/drawingml/2006/main">
              <a:ext uri="{FF2B5EF4-FFF2-40B4-BE49-F238E27FC236}">
                <a16:creationId xmlns:a16="http://schemas.microsoft.com/office/drawing/2014/main" id="{C021382E-C33D-4EAD-83E5-0202110B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8050" y="5972175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Регулярное тело</a:t>
            </a:r>
          </a:p>
        </p:txBody>
      </p:sp>
      <p:sp>
        <p:nvSpPr>
          <p:cNvPr id="22" name="06 / 14">
            <a:extLst xmlns:a="http://schemas.openxmlformats.org/drawingml/2006/main">
              <a:ext uri="{FF2B5EF4-FFF2-40B4-BE49-F238E27FC236}">
                <a16:creationId xmlns:a16="http://schemas.microsoft.com/office/drawing/2014/main" id="{3723838C-31A3-4F89-B2AF-A8308E12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1448739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Как погашается основной долг">
            <a:extLst xmlns:a="http://schemas.openxmlformats.org/drawingml/2006/main">
              <a:ext uri="{FF2B5EF4-FFF2-40B4-BE49-F238E27FC236}">
                <a16:creationId xmlns:a16="http://schemas.microsoft.com/office/drawing/2014/main" id="{C239E550-37E0-4ABC-904D-902A508A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Как погашается основной долг</a:t>
            </a:r>
          </a:p>
        </p:txBody>
      </p:sp>
      <p:sp>
        <p:nvSpPr>
          <p:cNvPr id="2" name="Остаток долга, млн RUB">
            <a:extLst xmlns:a="http://schemas.openxmlformats.org/drawingml/2006/main">
              <a:ext uri="{FF2B5EF4-FFF2-40B4-BE49-F238E27FC236}">
                <a16:creationId xmlns:a16="http://schemas.microsoft.com/office/drawing/2014/main" id="{FD848A3D-A96C-4CD2-A7AD-739EF35B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Остаток долга, млн RUB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3B5D427-460C-4B1C-8E55-7A853E43B46F}"/>
              </a:ext>
            </a:extLst>
          </p:cNvPr>
          <p:cNvGraphicFramePr/>
          <p:nvPr/>
        </p:nvGraphicFramePr>
        <p:xfrm>
          <a:off xmlns:a="http://schemas.openxmlformats.org/drawingml/2006/main" x="666750" y="1971675"/>
          <a:ext xmlns:a="http://schemas.openxmlformats.org/drawingml/2006/main" cx="1085850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86772181a347da"/>
          </a:graphicData>
        </a:graphic>
      </p:graphicFrame>
      <p:sp>
        <p:nvSpPr>
          <p:cNvPr id="4" name="Номер платежа: 0 — дата оценки, 334 — погашение">
            <a:extLst xmlns:a="http://schemas.openxmlformats.org/drawingml/2006/main">
              <a:ext uri="{FF2B5EF4-FFF2-40B4-BE49-F238E27FC236}">
                <a16:creationId xmlns:a16="http://schemas.microsoft.com/office/drawing/2014/main" id="{D08396F1-56FB-46B7-AAC9-69C6E3E5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5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Номер платежа: 0 — дата оценки, 334 — погашение</a:t>
            </a:r>
          </a:p>
        </p:txBody>
      </p:sp>
      <p:sp>
        <p:nvSpPr>
          <p:cNvPr id="5" name="В каждом графике возвращено 3 646 037,89 RUB тела. Конечный остаток: 0">
            <a:extLst xmlns:a="http://schemas.openxmlformats.org/drawingml/2006/main">
              <a:ext uri="{FF2B5EF4-FFF2-40B4-BE49-F238E27FC236}">
                <a16:creationId xmlns:a16="http://schemas.microsoft.com/office/drawing/2014/main" id="{44F25D86-A01B-466E-82C9-C2E26857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096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6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В каждом графике возвращено 3 646 037,89 RUB тела. Конечный остаток: 0,00 RUB.</a:t>
            </a:r>
          </a:p>
        </p:txBody>
      </p:sp>
      <p:sp>
        <p:nvSpPr>
          <p:cNvPr id="6" name="07 / 14">
            <a:extLst xmlns:a="http://schemas.openxmlformats.org/drawingml/2006/main">
              <a:ext uri="{FF2B5EF4-FFF2-40B4-BE49-F238E27FC236}">
                <a16:creationId xmlns:a16="http://schemas.microsoft.com/office/drawing/2014/main" id="{4F6682F7-0DAD-4977-A90F-B8BE473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820396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колько процентов за весь срок">
            <a:extLst xmlns:a="http://schemas.openxmlformats.org/drawingml/2006/main">
              <a:ext uri="{FF2B5EF4-FFF2-40B4-BE49-F238E27FC236}">
                <a16:creationId xmlns:a16="http://schemas.microsoft.com/office/drawing/2014/main" id="{BDA01F0F-7AC5-4356-8A93-7DD7A9CD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Сколько процентов за весь срок</a:t>
            </a:r>
          </a:p>
        </p:txBody>
      </p:sp>
      <p:sp>
        <p:nvSpPr>
          <p:cNvPr id="2" name="Номинальная сумма процентов, млн RUB">
            <a:extLst xmlns:a="http://schemas.openxmlformats.org/drawingml/2006/main">
              <a:ext uri="{FF2B5EF4-FFF2-40B4-BE49-F238E27FC236}">
                <a16:creationId xmlns:a16="http://schemas.microsoft.com/office/drawing/2014/main" id="{DEF8E73F-F071-4761-8A8E-3A71A185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Номинальная сумма процентов, млн RUB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41291AA-D0BE-4E5F-A452-C138E31CFACE}"/>
              </a:ext>
            </a:extLst>
          </p:cNvPr>
          <p:cNvGraphicFramePr/>
          <p:nvPr/>
        </p:nvGraphicFramePr>
        <p:xfrm>
          <a:off xmlns:a="http://schemas.openxmlformats.org/drawingml/2006/main" x="695325" y="1981200"/>
          <a:ext xmlns:a="http://schemas.openxmlformats.org/drawingml/2006/main" cx="6924675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8053738413424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335EA-C21B-42C2-98C5-47C4392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81200"/>
            <a:ext cx="395287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5" name="Раньше">
            <a:extLst xmlns:a="http://schemas.openxmlformats.org/drawingml/2006/main">
              <a:ext uri="{FF2B5EF4-FFF2-40B4-BE49-F238E27FC236}">
                <a16:creationId xmlns:a16="http://schemas.microsoft.com/office/drawing/2014/main" id="{E50CD6C7-3F9A-4132-92B5-98CA184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90775"/>
            <a:ext cx="3095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Раньше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175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возвращаем тело</a:t>
            </a:r>
          </a:p>
        </p:txBody>
      </p:sp>
      <p:sp>
        <p:nvSpPr>
          <p:cNvPr id="6" name="Меньше начисляем">
            <a:extLst xmlns:a="http://schemas.openxmlformats.org/drawingml/2006/main">
              <a:ext uri="{FF2B5EF4-FFF2-40B4-BE49-F238E27FC236}">
                <a16:creationId xmlns:a16="http://schemas.microsoft.com/office/drawing/2014/main" id="{04C45211-AC95-411E-80C8-E476D83F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Меньше начисляем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процентов на остаток.</a:t>
            </a:r>
          </a:p>
        </p:txBody>
      </p:sp>
      <p:sp>
        <p:nvSpPr>
          <p:cNvPr id="7" name="Этот вывод относится к одной сделке с одинаковыми ставкой и сроком.">
            <a:extLst xmlns:a="http://schemas.openxmlformats.org/drawingml/2006/main">
              <a:ext uri="{FF2B5EF4-FFF2-40B4-BE49-F238E27FC236}">
                <a16:creationId xmlns:a16="http://schemas.microsoft.com/office/drawing/2014/main" id="{B6B2ABE3-6069-4220-85E2-84892AB6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7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Этот вывод относится к одной сделке с одинаковыми ставкой и сроком.</a:t>
            </a:r>
          </a:p>
        </p:txBody>
      </p:sp>
      <p:sp>
        <p:nvSpPr>
          <p:cNvPr id="8" name="08 / 14">
            <a:extLst xmlns:a="http://schemas.openxmlformats.org/drawingml/2006/main">
              <a:ext uri="{FF2B5EF4-FFF2-40B4-BE49-F238E27FC236}">
                <a16:creationId xmlns:a16="http://schemas.microsoft.com/office/drawing/2014/main" id="{D6979099-8D9B-4C23-8004-189EEA28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1833090583"/>
      </p:ext>
    </p:extLst>
  </p:cSld>
</p:sld>
</file>

<file path=ppt/slides/slide9.xml><?xml version="1.0" encoding="utf-8"?>
<p:sld xmlns:a="http://schemas.openxmlformats.org/drawingml/2006/main" xmlns:a16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3957C7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Разные потоки. Почти одинаковая PV.">
            <a:extLst>
              <a:ext uri="{FF2B5EF4-FFF2-40B4-BE49-F238E27FC236}">
                <a16:creationId id="{85170284-23C3-4619-9256-615B934D678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5375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>
            <a:pPr algn="l">
              <a:lnSpc>
                <a:spcPct val="110000"/>
              </a:lnSpc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Разные потоки. Почти одинаковая PV.</a:t>
            </a:r>
          </a:p>
        </p:txBody>
      </p:sp>
      <p:sp>
        <p:nvSpPr>
          <p:cNvPr id="3" name="31.08.2022  •  rdisc = 7,5%  •  PERIOD_SIMPLE_CHAIN">
            <a:extLst>
              <a:ext uri="{FF2B5EF4-FFF2-40B4-BE49-F238E27FC236}">
                <a16:creationId id="{5B560611-3EEF-422B-B7E2-C548FA719883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84486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31.08.2022  •  rdisc = 7,5%  •  PERIOD_SIMPLE_CHAIN</a:t>
            </a:r>
          </a:p>
        </p:txBody>
      </p:sp>
      <p:pic>
        <p:nvPicPr>
          <p:cNvPr id="4" name="">
            <a:extLst>
              <a:ext uri="{FF2B5EF4-FFF2-40B4-BE49-F238E27FC236}">
                <a16:creationId id="{1364A6D3-6C3F-48E4-85C0-7E10D73F97D0}"/>
              </a:ext>
            </a:extLst>
          </p:cNvPr>
          <p:cNvPicPr>
            <a:picLocks noChangeAspect="1"/>
          </p:cNvPicPr>
          <p:nvPr/>
        </p:nvPicPr>
        <p:blipFill>
          <a:blip r:embed="R4b2ae8b202484049"/>
          <a:stretch/>
        </p:blipFill>
        <p:spPr>
          <a:xfrm>
            <a:off x="9565481" y="1447800"/>
            <a:ext cx="2071688" cy="1381125"/>
          </a:xfrm>
          <a:prstGeom prst="rect">
            <a:avLst/>
          </a:prstGeom>
        </p:spPr>
      </p:pic>
      <p:graphicFrame>
        <p:nvGraphicFramePr>
          <p:cNvPr id="5" name="">
            <a:extLst>
              <a:ext uri="{FF2B5EF4-FFF2-40B4-BE49-F238E27FC236}">
                <a16:creationId id="{98778B0C-80EE-4CDF-B01E-12B5681CB666}"/>
              </a:ext>
            </a:extLst>
          </p:cNvPr>
          <p:cNvGraphicFramePr/>
          <p:nvPr/>
        </p:nvGraphicFramePr>
        <p:xfrm>
          <a:off x="609600" y="2990850"/>
          <a:ext cx="10972800" cy="2219325"/>
        </p:xfrm>
        <a:graphic>
          <a:graphicData uri="http://schemas.openxmlformats.org/drawingml/2006/table">
            <a:tbl>
              <a:tblPr/>
              <a:tblGrid>
                <a:gridCol w="2286000"/>
                <a:gridCol w="4810125"/>
                <a:gridCol w="3876675"/>
              </a:tblGrid>
              <a:tr h="554831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График</a:t>
                      </a:r>
                    </a:p>
                  </a:txBody>
                  <a:tcPr marL="152400" marR="152400" marT="95250" marB="95250" anchor="ctr">
                    <a:solidFill>
                      <a:srgbClr val="DC883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PV будущих потоков, RUB</a:t>
                      </a:r>
                    </a:p>
                  </a:txBody>
                  <a:tcPr marL="152400" marR="152400" marT="95250" marB="95250" anchor="ctr">
                    <a:solidFill>
                      <a:srgbClr val="DC883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PV минус долг, RUB</a:t>
                      </a:r>
                    </a:p>
                  </a:txBody>
                  <a:tcPr marL="152400" marR="152400" marT="95250" marB="95250" anchor="ctr">
                    <a:solidFill>
                      <a:srgbClr val="DC8837"/>
                    </a:solidFill>
                  </a:tcPr>
                </a:tc>
              </a:tr>
              <a:tr h="554831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ANN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3 646 037,92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+0,03023904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  <a:tr h="554831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SIMPLE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3 646 037,88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−0,00522707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554831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RGM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3 646 037,90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+0,00531659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</a:tbl>
          </a:graphicData>
        </a:graphic>
      </p:graphicFrame>
      <p:sp>
        <p:nvSpPr>
          <p:cNvPr id="6" name="При равных кредитной и дисконтной ставках PV ≈ начальному долгу.">
            <a:extLst>
              <a:ext uri="{FF2B5EF4-FFF2-40B4-BE49-F238E27FC236}">
                <a16:creationId id="{FC9B39BB-6C5F-4E3F-930B-6DD9A683126D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При равных кредитной и дисконтной ставках PV ≈ начальному долгу.</a:t>
            </a:r>
          </a:p>
          <a:p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Небольшая разница возникает из-за копеечного округления.</a:t>
            </a:r>
          </a:p>
        </p:txBody>
      </p:sp>
      <p:sp>
        <p:nvSpPr>
          <p:cNvPr id="7" name="09 / 14">
            <a:extLst>
              <a:ext uri="{FF2B5EF4-FFF2-40B4-BE49-F238E27FC236}">
                <a16:creationId id="{518A84CE-7698-4C46-8636-AADC727B2161}"/>
              </a:ext>
            </a:extLst>
          </p:cNvPr>
          <p:cNvSpPr>
            <a:spLocks noGrp="1"/>
          </p:cNvSpPr>
          <p:nvPr/>
        </p:nvSpPr>
        <p:spPr>
          <a:xfrm>
            <a:off x="10858500" y="6477000"/>
            <a:ext cx="800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>
            <a:pPr algn="l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09 / 14</a:t>
            </a:r>
          </a:p>
        </p:txBody>
      </p:sp>
      <p:sp>
        <p:nvSpPr>
          <p:cNvPr id="9" name="math-pv/factor-left">
            <a:extLst>
              <a:ext uri="{FF2B5EF4-FFF2-40B4-BE49-F238E27FC236}">
                <a16:creationId id="{7F620B3A-EDF4-43F0-951F-C6666A6825BA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14325" cy="5972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8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8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85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𝐹</a:t>
            </a:r>
          </a:p>
        </p:txBody>
      </p:sp>
      <p:sp>
        <p:nvSpPr>
          <p:cNvPr id="10" name="math-pv/factor-left-index">
            <a:extLst>
              <a:ext uri="{FF2B5EF4-FFF2-40B4-BE49-F238E27FC236}">
                <a16:creationId id="{C66FF16D-465F-4C34-87D0-153FD3C049A5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80975" cy="3300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𝑖</a:t>
            </a:r>
          </a:p>
        </p:txBody>
      </p:sp>
      <p:sp>
        <p:nvSpPr>
          <p:cNvPr id="11" name="math-pv/factor-equals">
            <a:extLst>
              <a:ext uri="{FF2B5EF4-FFF2-40B4-BE49-F238E27FC236}">
                <a16:creationId id="{A50F6894-1CF0-4D6C-B982-76F13549802D}"/>
              </a:ext>
            </a:extLst>
          </p:cNvPr>
          <p:cNvSpPr>
            <a:spLocks noGrp="1"/>
          </p:cNvSpPr>
          <p:nvPr/>
        </p:nvSpPr>
        <p:spPr>
          <a:xfrm>
            <a:off x="1114425" y="1733550"/>
            <a:ext cx="323850" cy="565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70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7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12" name="math-pv/factor-numerator">
            <a:extLst>
              <a:ext uri="{FF2B5EF4-FFF2-40B4-BE49-F238E27FC236}">
                <a16:creationId id="{1A3F560B-3387-4143-BE34-8476AAAD90FE}"/>
              </a:ext>
            </a:extLst>
          </p:cNvPr>
          <p:cNvSpPr>
            <a:spLocks noGrp="1"/>
          </p:cNvSpPr>
          <p:nvPr/>
        </p:nvSpPr>
        <p:spPr>
          <a:xfrm>
            <a:off x="2381250" y="1381125"/>
            <a:ext cx="295275" cy="5343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5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5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55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𝐹</a:t>
            </a:r>
          </a:p>
        </p:txBody>
      </p:sp>
      <p:sp>
        <p:nvSpPr>
          <p:cNvPr id="13" name="math-pv/factor-numerator-index">
            <a:extLst>
              <a:ext uri="{FF2B5EF4-FFF2-40B4-BE49-F238E27FC236}">
                <a16:creationId id="{D6CC17D6-42F7-4E24-AB0F-0E8F381955AD}"/>
              </a:ext>
            </a:extLst>
          </p:cNvPr>
          <p:cNvSpPr>
            <a:spLocks noGrp="1"/>
          </p:cNvSpPr>
          <p:nvPr/>
        </p:nvSpPr>
        <p:spPr>
          <a:xfrm>
            <a:off x="2609850" y="1600200"/>
            <a:ext cx="4381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150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𝑖−1</a:t>
            </a:r>
          </a:p>
        </p:txBody>
      </p:sp>
      <p:sp>
        <p:nvSpPr>
          <p:cNvPr id="14" name="math-pv/factor-fraction">
            <a:extLst>
              <a:ext uri="{FF2B5EF4-FFF2-40B4-BE49-F238E27FC236}">
                <a16:creationId id="{B19B8307-4B51-4C27-AAB7-40A435B074B8}"/>
              </a:ext>
            </a:extLst>
          </p:cNvPr>
          <p:cNvSpPr>
            <a:spLocks noGrp="1"/>
          </p:cNvSpPr>
          <p:nvPr/>
        </p:nvSpPr>
        <p:spPr>
          <a:xfrm>
            <a:off x="1552575" y="1809750"/>
            <a:ext cx="2419350" cy="1428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math-pv/factor-denominator-start">
            <a:extLst>
              <a:ext uri="{FF2B5EF4-FFF2-40B4-BE49-F238E27FC236}">
                <a16:creationId id="{BDD18A96-BFC8-4C89-AD7D-8F13A47D78B4}"/>
              </a:ext>
            </a:extLst>
          </p:cNvPr>
          <p:cNvSpPr>
            <a:spLocks noGrp="1"/>
          </p:cNvSpPr>
          <p:nvPr/>
        </p:nvSpPr>
        <p:spPr>
          <a:xfrm>
            <a:off x="1619250" y="2009775"/>
            <a:ext cx="609600" cy="4714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2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25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1 +</a:t>
            </a:r>
          </a:p>
        </p:txBody>
      </p:sp>
      <p:sp>
        <p:nvSpPr>
          <p:cNvPr id="16" name="math-pv/discount-rate">
            <a:extLst>
              <a:ext uri="{FF2B5EF4-FFF2-40B4-BE49-F238E27FC236}">
                <a16:creationId id="{E1F959ED-20F5-4C86-89CA-B524C356FFB3}"/>
              </a:ext>
            </a:extLst>
          </p:cNvPr>
          <p:cNvSpPr>
            <a:spLocks noGrp="1"/>
          </p:cNvSpPr>
          <p:nvPr/>
        </p:nvSpPr>
        <p:spPr>
          <a:xfrm>
            <a:off x="2266950" y="2019300"/>
            <a:ext cx="228600" cy="4872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32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32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32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𝑟</a:t>
            </a:r>
          </a:p>
        </p:txBody>
      </p:sp>
      <p:sp>
        <p:nvSpPr>
          <p:cNvPr id="17" name="math-pv/discount-rate-index">
            <a:extLst>
              <a:ext uri="{FF2B5EF4-FFF2-40B4-BE49-F238E27FC236}">
                <a16:creationId id="{9F02F8D9-2892-47F7-B844-CB7F269727FE}"/>
              </a:ext>
            </a:extLst>
          </p:cNvPr>
          <p:cNvSpPr>
            <a:spLocks noGrp="1"/>
          </p:cNvSpPr>
          <p:nvPr/>
        </p:nvSpPr>
        <p:spPr>
          <a:xfrm>
            <a:off x="2447925" y="2228850"/>
            <a:ext cx="352425" cy="2828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13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35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disc</a:t>
            </a:r>
          </a:p>
        </p:txBody>
      </p:sp>
      <p:sp>
        <p:nvSpPr>
          <p:cNvPr id="18" name="math-pv/factor-product">
            <a:extLst>
              <a:ext uri="{FF2B5EF4-FFF2-40B4-BE49-F238E27FC236}">
                <a16:creationId id="{91F53F15-2F68-43FD-8970-9FD870723A0D}"/>
              </a:ext>
            </a:extLst>
          </p:cNvPr>
          <p:cNvSpPr>
            <a:spLocks noGrp="1"/>
          </p:cNvSpPr>
          <p:nvPr/>
        </p:nvSpPr>
        <p:spPr>
          <a:xfrm>
            <a:off x="2895600" y="2047875"/>
            <a:ext cx="190500" cy="4714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2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25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⋅</a:t>
            </a:r>
          </a:p>
        </p:txBody>
      </p:sp>
      <p:sp>
        <p:nvSpPr>
          <p:cNvPr id="19" name="math-pv/days-numerator">
            <a:extLst>
              <a:ext uri="{FF2B5EF4-FFF2-40B4-BE49-F238E27FC236}">
                <a16:creationId id="{69339C3A-0956-4492-BFCE-9ACE7CCA1EFE}"/>
              </a:ext>
            </a:extLst>
          </p:cNvPr>
          <p:cNvSpPr>
            <a:spLocks noGrp="1"/>
          </p:cNvSpPr>
          <p:nvPr/>
        </p:nvSpPr>
        <p:spPr>
          <a:xfrm>
            <a:off x="3305175" y="1847850"/>
            <a:ext cx="257175" cy="4243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02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𝑑</a:t>
            </a:r>
          </a:p>
        </p:txBody>
      </p:sp>
      <p:sp>
        <p:nvSpPr>
          <p:cNvPr id="20" name="math-pv/days-index">
            <a:extLst>
              <a:ext uri="{FF2B5EF4-FFF2-40B4-BE49-F238E27FC236}">
                <a16:creationId id="{8D6189B3-CD51-4AF2-985E-B02208E5FBBD}"/>
              </a:ext>
            </a:extLst>
          </p:cNvPr>
          <p:cNvSpPr>
            <a:spLocks noGrp="1"/>
          </p:cNvSpPr>
          <p:nvPr/>
        </p:nvSpPr>
        <p:spPr>
          <a:xfrm>
            <a:off x="3514725" y="2019300"/>
            <a:ext cx="171450" cy="2828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135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35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𝑖</a:t>
            </a:r>
          </a:p>
        </p:txBody>
      </p:sp>
      <p:sp>
        <p:nvSpPr>
          <p:cNvPr id="21" name="math-pv/days-fraction">
            <a:extLst>
              <a:ext uri="{FF2B5EF4-FFF2-40B4-BE49-F238E27FC236}">
                <a16:creationId id="{3E92CB86-1B4B-4BA9-9AF7-4054E2A69E4A}"/>
              </a:ext>
            </a:extLst>
          </p:cNvPr>
          <p:cNvSpPr>
            <a:spLocks noGrp="1"/>
          </p:cNvSpPr>
          <p:nvPr/>
        </p:nvSpPr>
        <p:spPr>
          <a:xfrm>
            <a:off x="3228975" y="2181225"/>
            <a:ext cx="590550" cy="1143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2" name="math-pv/days-denominator">
            <a:extLst>
              <a:ext uri="{FF2B5EF4-FFF2-40B4-BE49-F238E27FC236}">
                <a16:creationId id="{00B681CD-D4FF-430A-8CC0-FFF8A671A2A7}"/>
              </a:ext>
            </a:extLst>
          </p:cNvPr>
          <p:cNvSpPr>
            <a:spLocks noGrp="1"/>
          </p:cNvSpPr>
          <p:nvPr/>
        </p:nvSpPr>
        <p:spPr>
          <a:xfrm>
            <a:off x="3286125" y="2200275"/>
            <a:ext cx="533400" cy="3929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18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365</a:t>
            </a:r>
          </a:p>
        </p:txBody>
      </p:sp>
      <p:sp>
        <p:nvSpPr>
          <p:cNvPr id="23" name="math-pv/present-value">
            <a:extLst>
              <a:ext uri="{FF2B5EF4-FFF2-40B4-BE49-F238E27FC236}">
                <a16:creationId id="{B02CC7B8-2617-4838-9052-C47B3A3FED75}"/>
              </a:ext>
            </a:extLst>
          </p:cNvPr>
          <p:cNvSpPr>
            <a:spLocks noGrp="1"/>
          </p:cNvSpPr>
          <p:nvPr/>
        </p:nvSpPr>
        <p:spPr>
          <a:xfrm>
            <a:off x="5438775" y="1724025"/>
            <a:ext cx="581025" cy="581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PV</a:t>
            </a:r>
          </a:p>
        </p:txBody>
      </p:sp>
      <p:sp>
        <p:nvSpPr>
          <p:cNvPr id="24" name="math-pv/present-value-equals">
            <a:extLst>
              <a:ext uri="{FF2B5EF4-FFF2-40B4-BE49-F238E27FC236}">
                <a16:creationId id="{2A97E847-8D79-4265-8222-EA9A3511FA01}"/>
              </a:ext>
            </a:extLst>
          </p:cNvPr>
          <p:cNvSpPr>
            <a:spLocks noGrp="1"/>
          </p:cNvSpPr>
          <p:nvPr/>
        </p:nvSpPr>
        <p:spPr>
          <a:xfrm>
            <a:off x="6162675" y="1724025"/>
            <a:ext cx="342900" cy="581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25" name="math-pv/sum">
            <a:extLst>
              <a:ext uri="{FF2B5EF4-FFF2-40B4-BE49-F238E27FC236}">
                <a16:creationId id="{B27A5F03-F28D-475F-81FA-138EBA2C26D4}"/>
              </a:ext>
            </a:extLst>
          </p:cNvPr>
          <p:cNvSpPr>
            <a:spLocks noGrp="1"/>
          </p:cNvSpPr>
          <p:nvPr/>
        </p:nvSpPr>
        <p:spPr>
          <a:xfrm>
            <a:off x="6667500" y="1600200"/>
            <a:ext cx="638175" cy="8958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42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42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42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∑</a:t>
            </a:r>
          </a:p>
        </p:txBody>
      </p:sp>
      <p:sp>
        <p:nvSpPr>
          <p:cNvPr id="26" name="math-pv/sum-upper">
            <a:extLst>
              <a:ext uri="{FF2B5EF4-FFF2-40B4-BE49-F238E27FC236}">
                <a16:creationId id="{1065E89B-1850-4C01-BAF6-6A2495306500}"/>
              </a:ext>
            </a:extLst>
          </p:cNvPr>
          <p:cNvSpPr>
            <a:spLocks noGrp="1"/>
          </p:cNvSpPr>
          <p:nvPr/>
        </p:nvSpPr>
        <p:spPr>
          <a:xfrm>
            <a:off x="6867525" y="1381125"/>
            <a:ext cx="238125" cy="3300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𝑁</a:t>
            </a:r>
          </a:p>
        </p:txBody>
      </p:sp>
      <p:sp>
        <p:nvSpPr>
          <p:cNvPr id="27" name="math-pv/sum-lower">
            <a:extLst>
              <a:ext uri="{FF2B5EF4-FFF2-40B4-BE49-F238E27FC236}">
                <a16:creationId id="{7463747A-9E8E-4494-B9B4-343FB5D4CF6D}"/>
              </a:ext>
            </a:extLst>
          </p:cNvPr>
          <p:cNvSpPr>
            <a:spLocks noGrp="1"/>
          </p:cNvSpPr>
          <p:nvPr/>
        </p:nvSpPr>
        <p:spPr>
          <a:xfrm>
            <a:off x="6715125" y="2238375"/>
            <a:ext cx="5810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150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𝑖 = 1</a:t>
            </a:r>
          </a:p>
        </p:txBody>
      </p:sp>
      <p:sp>
        <p:nvSpPr>
          <p:cNvPr id="28" name="math-pv/cashflow">
            <a:extLst>
              <a:ext uri="{FF2B5EF4-FFF2-40B4-BE49-F238E27FC236}">
                <a16:creationId id="{273E33B6-5355-4869-9166-EAA452035F8C}"/>
              </a:ext>
            </a:extLst>
          </p:cNvPr>
          <p:cNvSpPr>
            <a:spLocks noGrp="1"/>
          </p:cNvSpPr>
          <p:nvPr/>
        </p:nvSpPr>
        <p:spPr>
          <a:xfrm>
            <a:off x="7496175" y="1724025"/>
            <a:ext cx="323850" cy="581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𝐶</a:t>
            </a:r>
          </a:p>
        </p:txBody>
      </p:sp>
      <p:sp>
        <p:nvSpPr>
          <p:cNvPr id="29" name="math-pv/cashflow-index">
            <a:extLst>
              <a:ext uri="{FF2B5EF4-FFF2-40B4-BE49-F238E27FC236}">
                <a16:creationId id="{F84FF03C-DCB2-4327-97FC-B36B7080BB4A}"/>
              </a:ext>
            </a:extLst>
          </p:cNvPr>
          <p:cNvSpPr>
            <a:spLocks noGrp="1"/>
          </p:cNvSpPr>
          <p:nvPr/>
        </p:nvSpPr>
        <p:spPr>
          <a:xfrm>
            <a:off x="7762875" y="1952625"/>
            <a:ext cx="171450" cy="3300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𝑖</a:t>
            </a:r>
          </a:p>
        </p:txBody>
      </p:sp>
      <p:sp>
        <p:nvSpPr>
          <p:cNvPr id="30" name="math-pv/pv-product">
            <a:extLst>
              <a:ext uri="{FF2B5EF4-FFF2-40B4-BE49-F238E27FC236}">
                <a16:creationId id="{76DB3CCA-2B3D-41AC-A1BC-5CE2F8D5A32B}"/>
              </a:ext>
            </a:extLst>
          </p:cNvPr>
          <p:cNvSpPr>
            <a:spLocks noGrp="1"/>
          </p:cNvSpPr>
          <p:nvPr/>
        </p:nvSpPr>
        <p:spPr>
          <a:xfrm>
            <a:off x="8077200" y="1733550"/>
            <a:ext cx="228600" cy="581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⋅</a:t>
            </a:r>
          </a:p>
        </p:txBody>
      </p:sp>
      <p:sp>
        <p:nvSpPr>
          <p:cNvPr id="31" name="math-pv/factor-right">
            <a:extLst>
              <a:ext uri="{FF2B5EF4-FFF2-40B4-BE49-F238E27FC236}">
                <a16:creationId id="{FD7221B9-C190-4EAC-94E0-EECCB7FCA274}"/>
              </a:ext>
            </a:extLst>
          </p:cNvPr>
          <p:cNvSpPr>
            <a:spLocks noGrp="1"/>
          </p:cNvSpPr>
          <p:nvPr/>
        </p:nvSpPr>
        <p:spPr>
          <a:xfrm>
            <a:off x="8429625" y="1724025"/>
            <a:ext cx="304800" cy="581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7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𝐹</a:t>
            </a:r>
          </a:p>
        </p:txBody>
      </p:sp>
      <p:sp>
        <p:nvSpPr>
          <p:cNvPr id="32" name="math-pv/factor-right-index">
            <a:extLst>
              <a:ext uri="{FF2B5EF4-FFF2-40B4-BE49-F238E27FC236}">
                <a16:creationId id="{F7A5AEEC-0CEC-429A-A5BD-B9EE35A4F721}"/>
              </a:ext>
            </a:extLst>
          </p:cNvPr>
          <p:cNvSpPr>
            <a:spLocks noGrp="1"/>
          </p:cNvSpPr>
          <p:nvPr/>
        </p:nvSpPr>
        <p:spPr>
          <a:xfrm>
            <a:off x="8667750" y="1952625"/>
            <a:ext cx="171450" cy="33004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defPPr>
          </a:lstStyle>
          <a:p>
            <a:pPr algn="l">
              <a:lnSpc>
                <a:spcPct val="100000"/>
              </a:lnSpc>
              <a:buNone/>
              <a:def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𝑖</a:t>
            </a:r>
          </a:p>
        </p:txBody>
      </p:sp>
    </p:spTree>
    <p:extLst>
      <p:ext uri="{BB962C8B-B14F-4D97-AF65-F5344CB8AC3E}">
        <ns4:creationId val="85776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Что передаём между модулями">
            <a:extLst xmlns:a="http://schemas.openxmlformats.org/drawingml/2006/main">
              <a:ext uri="{FF2B5EF4-FFF2-40B4-BE49-F238E27FC236}">
                <a16:creationId xmlns:a16="http://schemas.microsoft.com/office/drawing/2014/main" id="{21C578A2-09B4-4F85-B179-14D0F93F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Что передаём между модулями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4089B-A711-47C5-B4DC-8FD677689D86}"/>
              </a:ext>
            </a:extLst>
          </p:cNvPr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40556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Вход: request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Выход: response</a:t>
                      </a:r>
                    </a:p>
                  </a:txBody>
                  <a:tcPr marL="152400" marR="152400" marT="95250" marB="95250" anchor="ctr">
                    <a:solidFill>
                      <a:srgbClr val="3957C7"/>
                    </a:solidFill>
                  </a:tcPr>
                </a:tc>
              </a:tr>
              <a:tr h="640556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Сделка: долг, ставка, даты, валюта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Платежи: проценты, тело, остаток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  <a:tr h="640556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Дисконтирование: ставка и метод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DF и PV по каждому платежу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40556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Типы платежей: ANN / SIMPLE / RGM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800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Итоги, допущения, результаты проверок</a:t>
                      </a:r>
                    </a:p>
                  </a:txBody>
                  <a:tcPr marL="152400" marR="152400" marT="95250" marB="95250" anchor="ctr">
                    <a:solidFill>
                      <a:srgbClr val="F6F3E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9AE05-9179-4512-B809-1E55CD2B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52950"/>
            <a:ext cx="12192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4" name="Деньги и ставки: десятичные строки">
            <a:extLst xmlns:a="http://schemas.openxmlformats.org/drawingml/2006/main">
              <a:ext uri="{FF2B5EF4-FFF2-40B4-BE49-F238E27FC236}">
                <a16:creationId xmlns:a16="http://schemas.microsoft.com/office/drawing/2014/main" id="{7D4039AF-15A2-4B29-8DD1-24C5111F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6981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Деньги и ставки: десятичные строки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Даты: ISO 8601  •  Версия схемы: 1.0</a:t>
            </a:r>
          </a:p>
        </p:txBody>
      </p:sp>
      <p:sp>
        <p:nvSpPr>
          <p:cNvPr id="5" name="&quot;outstanding_principal&quot;: &quot;3646037.89&quot;">
            <a:extLst xmlns:a="http://schemas.openxmlformats.org/drawingml/2006/main">
              <a:ext uri="{FF2B5EF4-FFF2-40B4-BE49-F238E27FC236}">
                <a16:creationId xmlns:a16="http://schemas.microsoft.com/office/drawing/2014/main" id="{8A51B95F-874D-484D-B2DA-8E3222E6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6981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4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"outstanding_principal": "3646037.89"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4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"valuation_date": "2022-08-31"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881AD-B86B-4542-A1BD-A4BE05B7C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211b4375c424c"/>
          <a:stretch xmlns:a="http://schemas.openxmlformats.org/drawingml/2006/main"/>
        </p:blipFill>
        <p:spPr>
          <a:xfrm xmlns:a="http://schemas.openxmlformats.org/drawingml/2006/main">
            <a:off x="8893969" y="4638675"/>
            <a:ext cx="2271713" cy="1514475"/>
          </a:xfrm>
          <a:prstGeom xmlns:a="http://schemas.openxmlformats.org/drawingml/2006/main" prst="rect">
            <a:avLst/>
          </a:prstGeom>
        </p:spPr>
      </p:pic>
      <p:sp>
        <p:nvSpPr>
          <p:cNvPr id="7" name="10 / 14">
            <a:extLst xmlns:a="http://schemas.openxmlformats.org/drawingml/2006/main">
              <a:ext uri="{FF2B5EF4-FFF2-40B4-BE49-F238E27FC236}">
                <a16:creationId xmlns:a16="http://schemas.microsoft.com/office/drawing/2014/main" id="{D2F6A8D1-74A1-4D49-B348-95045BE4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8871070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C88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редложены границы">
            <a:extLst xmlns:a="http://schemas.openxmlformats.org/drawingml/2006/main">
              <a:ext uri="{FF2B5EF4-FFF2-40B4-BE49-F238E27FC236}">
                <a16:creationId xmlns:a16="http://schemas.microsoft.com/office/drawing/2014/main" id="{0816E408-A8E8-4CEC-A706-D0C2D20D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347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4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4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Предложены границы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34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4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C++-модуля</a:t>
            </a:r>
          </a:p>
        </p:txBody>
      </p:sp>
      <p:sp>
        <p:nvSpPr>
          <p:cNvPr id="2" name="Ядро расчёта">
            <a:extLst xmlns:a="http://schemas.openxmlformats.org/drawingml/2006/main">
              <a:ext uri="{FF2B5EF4-FFF2-40B4-BE49-F238E27FC236}">
                <a16:creationId xmlns:a16="http://schemas.microsoft.com/office/drawing/2014/main" id="{CDA04855-167E-4DA3-8905-319F1ACA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400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5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55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Ядро расчёта</a:t>
            </a:r>
          </a:p>
        </p:txBody>
      </p:sp>
      <p:sp>
        <p:nvSpPr>
          <p:cNvPr id="3" name="Проверить входы">
            <a:extLst xmlns:a="http://schemas.openxmlformats.org/drawingml/2006/main">
              <a:ext uri="{FF2B5EF4-FFF2-40B4-BE49-F238E27FC236}">
                <a16:creationId xmlns:a16="http://schemas.microsoft.com/office/drawing/2014/main" id="{FDA9799C-2E19-4385-897A-D629AE38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54387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Проверить входы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Построить даты и график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Дисконтировать потоки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9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9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Собрать итоги и проверить остаток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48257-2AFB-4A11-8952-D82E137737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68a0da5494d8c"/>
          <a:stretch xmlns:a="http://schemas.openxmlformats.org/drawingml/2006/main"/>
        </p:blipFill>
        <p:spPr>
          <a:xfrm xmlns:a="http://schemas.openxmlformats.org/drawingml/2006/main">
            <a:off x="2707481" y="4429125"/>
            <a:ext cx="2328863" cy="15525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1E34E-A6EA-4234-AC3C-D6100E56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9055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6" name="Соседние блоки">
            <a:extLst xmlns:a="http://schemas.openxmlformats.org/drawingml/2006/main">
              <a:ext uri="{FF2B5EF4-FFF2-40B4-BE49-F238E27FC236}">
                <a16:creationId xmlns:a16="http://schemas.microsoft.com/office/drawing/2014/main" id="{A0C9BF7E-F5A9-418F-B2A8-01887A71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4819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4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Соседние блоки</a:t>
            </a:r>
          </a:p>
        </p:txBody>
      </p:sp>
      <p:sp>
        <p:nvSpPr>
          <p:cNvPr id="7" name="Адаптеры JSON / Excel">
            <a:extLst xmlns:a="http://schemas.openxmlformats.org/drawingml/2006/main">
              <a:ext uri="{FF2B5EF4-FFF2-40B4-BE49-F238E27FC236}">
                <a16:creationId xmlns:a16="http://schemas.microsoft.com/office/drawing/2014/main" id="{CBAE9473-0D56-4B43-81CE-14548B6A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48196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Адаптеры JSON / Excel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Рыночные кривые и сценарии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Портфель и Economic Capital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02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Факторное разложение и LLM</a:t>
            </a:r>
          </a:p>
        </p:txBody>
      </p:sp>
      <p:sp>
        <p:nvSpPr>
          <p:cNvPr id="8" name="Исполняемый прототип: Python  •  C++: типы, сигнатуры и проект интерфе">
            <a:extLst xmlns:a="http://schemas.openxmlformats.org/drawingml/2006/main">
              <a:ext uri="{FF2B5EF4-FFF2-40B4-BE49-F238E27FC236}">
                <a16:creationId xmlns:a16="http://schemas.microsoft.com/office/drawing/2014/main" id="{E6F86DB5-8E28-4A77-A47F-65B98208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72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Исполняемый прототип: Python  •  C++: типы, сигнатуры и проект интерфейса</a:t>
            </a:r>
          </a:p>
        </p:txBody>
      </p:sp>
      <p:sp>
        <p:nvSpPr>
          <p:cNvPr id="9" name="11 / 14">
            <a:extLst xmlns:a="http://schemas.openxmlformats.org/drawingml/2006/main">
              <a:ext uri="{FF2B5EF4-FFF2-40B4-BE49-F238E27FC236}">
                <a16:creationId xmlns:a16="http://schemas.microsoft.com/office/drawing/2014/main" id="{52C423CD-3E40-482E-B3FB-B9242615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13376806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CD5C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Как проверили результат">
            <a:extLst xmlns:a="http://schemas.openxmlformats.org/drawingml/2006/main">
              <a:ext uri="{FF2B5EF4-FFF2-40B4-BE49-F238E27FC236}">
                <a16:creationId xmlns:a16="http://schemas.microsoft.com/office/drawing/2014/main" id="{96A0038C-2CAD-4197-BE25-951F0096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Как проверили результат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F60B8F34-8185-44AF-8184-6640FF5B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095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81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23</a:t>
            </a:r>
          </a:p>
        </p:txBody>
      </p:sp>
      <p:sp>
        <p:nvSpPr>
          <p:cNvPr id="3" name="автотеста проходят">
            <a:extLst xmlns:a="http://schemas.openxmlformats.org/drawingml/2006/main">
              <a:ext uri="{FF2B5EF4-FFF2-40B4-BE49-F238E27FC236}">
                <a16:creationId xmlns:a16="http://schemas.microsoft.com/office/drawing/2014/main" id="{5BB1D614-98B2-4708-BB89-2673860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953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40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автотеста проходят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2E9A4-FF77-47BB-BA86-0B1FF99BB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4d0f301454b28"/>
          <a:stretch xmlns:a="http://schemas.openxmlformats.org/drawingml/2006/main"/>
        </p:blipFill>
        <p:spPr>
          <a:xfrm xmlns:a="http://schemas.openxmlformats.org/drawingml/2006/main">
            <a:off x="4105275" y="2095500"/>
            <a:ext cx="2057400" cy="1371600"/>
          </a:xfrm>
          <a:prstGeom xmlns:a="http://schemas.openxmlformats.org/drawingml/2006/main" prst="rect">
            <a:avLst/>
          </a:prstGeom>
        </p:spPr>
      </p:pic>
      <p:sp>
        <p:nvSpPr>
          <p:cNvPr id="5" name="14 737">
            <a:extLst xmlns:a="http://schemas.openxmlformats.org/drawingml/2006/main">
              <a:ext uri="{FF2B5EF4-FFF2-40B4-BE49-F238E27FC236}">
                <a16:creationId xmlns:a16="http://schemas.microsoft.com/office/drawing/2014/main" id="{4BCECCF1-6EAF-46A7-8ED3-C1EFDAEE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1911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63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14 737</a:t>
            </a:r>
          </a:p>
        </p:txBody>
      </p:sp>
      <p:sp>
        <p:nvSpPr>
          <p:cNvPr id="6" name="сравнений с исходными файлами">
            <a:extLst xmlns:a="http://schemas.openxmlformats.org/drawingml/2006/main">
              <a:ext uri="{FF2B5EF4-FFF2-40B4-BE49-F238E27FC236}">
                <a16:creationId xmlns:a16="http://schemas.microsoft.com/office/drawing/2014/main" id="{502FC7B7-46E0-4A5F-A8B3-3D294CAF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51149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сравнений с исходными файлами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05498-4B42-4FD9-9398-881FD361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86300"/>
            <a:ext cx="121920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sp>
        <p:nvSpPr>
          <p:cNvPr id="8" name="0 расхождений">
            <a:extLst xmlns:a="http://schemas.openxmlformats.org/drawingml/2006/main">
              <a:ext uri="{FF2B5EF4-FFF2-40B4-BE49-F238E27FC236}">
                <a16:creationId xmlns:a16="http://schemas.microsoft.com/office/drawing/2014/main" id="{284A16EC-DF88-4004-9B38-EE9EA61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5114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85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0 расхождений</a:t>
            </a:r>
          </a:p>
        </p:txBody>
      </p:sp>
      <p:sp>
        <p:nvSpPr>
          <p:cNvPr id="9" name="Тело погашено полностью.">
            <a:extLst xmlns:a="http://schemas.openxmlformats.org/drawingml/2006/main">
              <a:ext uri="{FF2B5EF4-FFF2-40B4-BE49-F238E27FC236}">
                <a16:creationId xmlns:a16="http://schemas.microsoft.com/office/drawing/2014/main" id="{0CE75C55-CBD7-4F5D-A22A-BE499CF1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5124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Тело погашено полностью.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Конечный остаток каждого графика: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0,00 RUB.</a:t>
            </a:r>
          </a:p>
        </p:txBody>
      </p:sp>
      <p:sp>
        <p:nvSpPr>
          <p:cNvPr id="10" name="Допуски: деньги 0,00 RUB  •  PV 10⁻⁷ RUB  •  DF и ставки периода 10⁻¹²">
            <a:extLst xmlns:a="http://schemas.openxmlformats.org/drawingml/2006/main">
              <a:ext uri="{FF2B5EF4-FFF2-40B4-BE49-F238E27FC236}">
                <a16:creationId xmlns:a16="http://schemas.microsoft.com/office/drawing/2014/main" id="{BCA4B31A-6D21-4449-ADEC-CC94A40B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35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Допуски: деньги 0,00 RUB  •  PV 10⁻⁷ RUB  •  DF и ставки периода 10⁻¹²</a:t>
            </a:r>
          </a:p>
        </p:txBody>
      </p:sp>
      <p:sp>
        <p:nvSpPr>
          <p:cNvPr id="11" name="12 / 14">
            <a:extLst xmlns:a="http://schemas.openxmlformats.org/drawingml/2006/main">
              <a:ext uri="{FF2B5EF4-FFF2-40B4-BE49-F238E27FC236}">
                <a16:creationId xmlns:a16="http://schemas.microsoft.com/office/drawing/2014/main" id="{E4B5C8D3-AAD3-45DD-A802-3E21B283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11890894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Что сдаём по первому спринту">
            <a:extLst xmlns:a="http://schemas.openxmlformats.org/drawingml/2006/main">
              <a:ext uri="{FF2B5EF4-FFF2-40B4-BE49-F238E27FC236}">
                <a16:creationId xmlns:a16="http://schemas.microsoft.com/office/drawing/2014/main" id="{7F7581B2-73C4-4EB0-B100-8CE41430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3300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Что сдаём по первому спринту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04429-B5B5-4A18-95A0-4589586C3E06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699135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62300"/>
                <a:gridCol w="3829050"/>
              </a:tblGrid>
              <a:tr h="466725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Материал</a:t>
                      </a:r>
                    </a:p>
                  </a:txBody>
                  <a:tcPr marL="152400" marR="152400" marT="19050" marB="19050" anchor="ctr">
                    <a:solidFill>
                      <a:srgbClr val="3957C7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FFFFFF"/>
                          </a:solidFill>
                          <a:latin typeface="ALS Hauss"/>
                          <a:ea typeface="ALS Hauss"/>
                          <a:cs typeface="ALS Hauss"/>
                        </a:rPr>
                        <a:t>Для чего нужен</a:t>
                      </a:r>
                    </a:p>
                  </a:txBody>
                  <a:tcPr marL="152400" marR="152400" marT="19050" marB="19050" anchor="ctr">
                    <a:solidFill>
                      <a:srgbClr val="3957C7"/>
                    </a:solidFill>
                  </a:tcPr>
                </a:tc>
              </a:tr>
              <a:tr h="5905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Excel с формулами</a:t>
                      </a:r>
                    </a:p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 графиками</a:t>
                      </a:r>
                    </a:p>
                  </a:txBody>
                  <a:tcPr marL="152400" marR="152400" marT="19050" marB="190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Показать расчёт</a:t>
                      </a:r>
                    </a:p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 сравнить графики</a:t>
                      </a:r>
                    </a:p>
                  </a:txBody>
                  <a:tcPr marL="152400" marR="152400" marT="19050" marB="19050" anchor="ctr">
                    <a:solidFill>
                      <a:srgbClr val="F6F3E8"/>
                    </a:solidFill>
                  </a:tcPr>
                </a:tc>
              </a:tr>
              <a:tr h="5905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CSV и JSON</a:t>
                      </a:r>
                    </a:p>
                  </a:txBody>
                  <a:tcPr marL="152400" marR="1524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Передать полный график</a:t>
                      </a:r>
                    </a:p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 численные результаты</a:t>
                      </a:r>
                    </a:p>
                  </a:txBody>
                  <a:tcPr marL="152400" marR="152400" marT="19050" marB="190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Python и автотесты</a:t>
                      </a:r>
                    </a:p>
                  </a:txBody>
                  <a:tcPr marL="152400" marR="152400" marT="19050" marB="190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Повторить расчёт</a:t>
                      </a:r>
                    </a:p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 проверить изменения</a:t>
                      </a:r>
                    </a:p>
                  </a:txBody>
                  <a:tcPr marL="152400" marR="152400" marT="19050" marB="19050" anchor="ctr">
                    <a:solidFill>
                      <a:srgbClr val="F6F3E8"/>
                    </a:solidFill>
                  </a:tcPr>
                </a:tc>
              </a:tr>
              <a:tr h="5905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JSON Schema</a:t>
                      </a:r>
                    </a:p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 примеры</a:t>
                      </a:r>
                    </a:p>
                  </a:txBody>
                  <a:tcPr marL="152400" marR="1524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Согласовать входы</a:t>
                      </a:r>
                    </a:p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 выходы модулей</a:t>
                      </a:r>
                    </a:p>
                  </a:txBody>
                  <a:tcPr marL="152400" marR="152400" marT="19050" marB="190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Документ</a:t>
                      </a:r>
                    </a:p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 заголовок C++</a:t>
                      </a:r>
                    </a:p>
                  </a:txBody>
                  <a:tcPr marL="152400" marR="152400" marT="19050" marB="19050" anchor="ctr">
                    <a:solidFill>
                      <a:srgbClr val="F6F3E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Зафиксировать функции</a:t>
                      </a:r>
                    </a:p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 границы ядра</a:t>
                      </a:r>
                    </a:p>
                  </a:txBody>
                  <a:tcPr marL="152400" marR="152400" marT="19050" marB="19050" anchor="ctr">
                    <a:solidFill>
                      <a:srgbClr val="F6F3E8"/>
                    </a:solidFill>
                  </a:tcPr>
                </a:tc>
              </a:tr>
              <a:tr h="59055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Отчёт с формулами</a:t>
                      </a:r>
                    </a:p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 допущениями</a:t>
                      </a:r>
                    </a:p>
                  </a:txBody>
                  <a:tcPr marL="152400" marR="1524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Объяснить методику</a:t>
                      </a:r>
                    </a:p>
                    <a:p>
                      <a:pPr algn="l"/>
                      <a:r>
                        <a:rPr sz="1575">
                          <a:solidFill>
                            <a:srgbClr val="171717"/>
                          </a:solidFill>
                          <a:latin typeface="ALS Hauss"/>
                          <a:ea typeface="ALS Hauss"/>
                          <a:cs typeface="ALS Hauss"/>
                        </a:rPr>
                        <a:t>и ограничения</a:t>
                      </a:r>
                    </a:p>
                  </a:txBody>
                  <a:tcPr marL="152400" marR="1524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2C340-1E1D-4F0A-953B-81FAD494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81150"/>
            <a:ext cx="4143375" cy="406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7C7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B2E32-ADE7-43A9-8287-D0679E5FBE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e2ff48c0f416c"/>
          <a:stretch xmlns:a="http://schemas.openxmlformats.org/drawingml/2006/main"/>
        </p:blipFill>
        <p:spPr>
          <a:xfrm xmlns:a="http://schemas.openxmlformats.org/drawingml/2006/main">
            <a:off x="8220075" y="2233613"/>
            <a:ext cx="3743325" cy="2495550"/>
          </a:xfrm>
          <a:prstGeom xmlns:a="http://schemas.openxmlformats.org/drawingml/2006/main" prst="rect">
            <a:avLst/>
          </a:prstGeom>
        </p:spPr>
      </p:pic>
      <p:sp>
        <p:nvSpPr>
          <p:cNvPr id="5" name="Расчёт, данные, код">
            <a:extLst xmlns:a="http://schemas.openxmlformats.org/drawingml/2006/main">
              <a:ext uri="{FF2B5EF4-FFF2-40B4-BE49-F238E27FC236}">
                <a16:creationId xmlns:a16="http://schemas.microsoft.com/office/drawing/2014/main" id="{4D219DFB-5FBD-479C-AFD7-BC45D50B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8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Расчёт, данные, код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BE47A-1071-444A-8B73-5BA44C91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1502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837"/>
          </a:solidFill>
          <a:ln xmlns:a="http://schemas.openxmlformats.org/drawingml/2006/main" w="0">
            <a:noFill/>
          </a:ln>
        </p:spPr>
      </p:sp>
      <p:sp>
        <p:nvSpPr>
          <p:cNvPr id="7" name="Все материалы собраны в sprint1_bundle.zip">
            <a:extLst xmlns:a="http://schemas.openxmlformats.org/drawingml/2006/main">
              <a:ext uri="{FF2B5EF4-FFF2-40B4-BE49-F238E27FC236}">
                <a16:creationId xmlns:a16="http://schemas.microsoft.com/office/drawing/2014/main" id="{EE3CD4DE-B559-460E-AB28-507C21D5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800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800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Все материалы собраны в sprint1_bundle.zip</a:t>
            </a:r>
          </a:p>
        </p:txBody>
      </p:sp>
      <p:sp>
        <p:nvSpPr>
          <p:cNvPr id="8" name="13 / 14">
            <a:extLst xmlns:a="http://schemas.openxmlformats.org/drawingml/2006/main">
              <a:ext uri="{FF2B5EF4-FFF2-40B4-BE49-F238E27FC236}">
                <a16:creationId xmlns:a16="http://schemas.microsoft.com/office/drawing/2014/main" id="{473E6E29-6657-4AE9-AC95-0DDE5FAA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171717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171717"/>
                </a:solidFill>
                <a:latin typeface="ALS Hauss"/>
                <a:ea typeface="ALS Hauss"/>
                <a:cs typeface="ALS Hauss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8015685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3957C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Расчётная база">
            <a:extLst xmlns:a="http://schemas.openxmlformats.org/drawingml/2006/main">
              <a:ext uri="{FF2B5EF4-FFF2-40B4-BE49-F238E27FC236}">
                <a16:creationId xmlns:a16="http://schemas.microsoft.com/office/drawing/2014/main" id="{890A9BC6-F2DC-46BD-A898-AA03E704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4676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Расчётная база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4800">
                <a:solidFill>
                  <a:srgbClr val="FFFFFF"/>
                </a:solidFill>
                <a:latin typeface="ALS Gorizont 2.1 Expanded"/>
                <a:ea typeface="ALS Gorizont 2.1 Expanded"/>
                <a:cs typeface="ALS Gorizont 2.1 Expanded"/>
              </a:rPr>
              <a:t>готова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0D7A9-4D1C-4BA2-93D7-2E847E773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f81aa8e2747b1"/>
          <a:stretch xmlns:a="http://schemas.openxmlformats.org/drawingml/2006/main"/>
        </p:blipFill>
        <p:spPr>
          <a:xfrm xmlns:a="http://schemas.openxmlformats.org/drawingml/2006/main">
            <a:off x="8410575" y="390525"/>
            <a:ext cx="3314700" cy="2209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68ACA-6419-4DE8-B2DF-6330D50E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1940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5CED"/>
          </a:solidFill>
          <a:ln xmlns:a="http://schemas.openxmlformats.org/drawingml/2006/main" w="0">
            <a:noFill/>
          </a:ln>
        </p:spPr>
      </p:sp>
      <p:sp>
        <p:nvSpPr>
          <p:cNvPr id="4" name="Следующий этап: факторный анализ">
            <a:extLst xmlns:a="http://schemas.openxmlformats.org/drawingml/2006/main">
              <a:ext uri="{FF2B5EF4-FFF2-40B4-BE49-F238E27FC236}">
                <a16:creationId xmlns:a16="http://schemas.microsoft.com/office/drawing/2014/main" id="{287D04C7-DA99-46E1-B8B9-E4C425DB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defRPr>
            </a:pPr>
            <a:r>
              <a:rPr sz="2775">
                <a:solidFill>
                  <a:srgbClr val="171717"/>
                </a:solidFill>
                <a:latin typeface="ALS Gorizont 2.1 Expanded"/>
                <a:ea typeface="ALS Gorizont 2.1 Expanded"/>
                <a:cs typeface="ALS Gorizont 2.1 Expanded"/>
              </a:rPr>
              <a:t>Следующий этап: факторный анализ</a:t>
            </a:r>
          </a:p>
        </p:txBody>
      </p:sp>
      <p:sp>
        <p:nvSpPr>
          <p:cNvPr id="5" name="Данные за несколько периодов и портфель">
            <a:extLst xmlns:a="http://schemas.openxmlformats.org/drawingml/2006/main">
              <a:ext uri="{FF2B5EF4-FFF2-40B4-BE49-F238E27FC236}">
                <a16:creationId xmlns:a16="http://schemas.microsoft.com/office/drawing/2014/main" id="{2132B21B-0BB8-44D2-8FA1-309F021E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06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Данные за несколько периодов и портфель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Рыночные кривые, сценарии и риск-параметры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Вклады факторов, взаимодействия и устойчивость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2100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Интерпретация проверенных чисел через LLM</a:t>
            </a:r>
          </a:p>
        </p:txBody>
      </p:sp>
      <p:sp>
        <p:nvSpPr>
          <p:cNvPr id="6" name="Текущая версия: одна сделка, фиксированные ставки, ACT/365F">
            <a:extLst xmlns:a="http://schemas.openxmlformats.org/drawingml/2006/main">
              <a:ext uri="{FF2B5EF4-FFF2-40B4-BE49-F238E27FC236}">
                <a16:creationId xmlns:a16="http://schemas.microsoft.com/office/drawing/2014/main" id="{5FE9FA4E-890A-4351-AD87-3896CC74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19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5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Текущая версия: одна сделка, фиксированные ставки, ACT/365F</a:t>
            </a:r>
          </a:p>
        </p:txBody>
      </p:sp>
      <p:sp>
        <p:nvSpPr>
          <p:cNvPr id="7" name="14 / 14">
            <a:extLst xmlns:a="http://schemas.openxmlformats.org/drawingml/2006/main">
              <a:ext uri="{FF2B5EF4-FFF2-40B4-BE49-F238E27FC236}">
                <a16:creationId xmlns:a16="http://schemas.microsoft.com/office/drawing/2014/main" id="{92425C12-58CD-4244-8CB8-4F41EAD4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FFFFFF"/>
                </a:solidFill>
                <a:latin typeface="ALS Hauss"/>
                <a:ea typeface="ALS Hauss"/>
                <a:cs typeface="ALS Hauss"/>
              </a:defRPr>
            </a:pPr>
            <a:r>
              <a:rPr sz="1275">
                <a:solidFill>
                  <a:srgbClr val="FFFFFF"/>
                </a:solidFill>
                <a:latin typeface="ALS Hauss"/>
                <a:ea typeface="ALS Hauss"/>
                <a:cs typeface="ALS Hauss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1797498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2026-10-09T15:07:14.0700000Z</dcterms:created>
  <dcterms:modified xsi:type="dcterms:W3CDTF">2026-10-09T15:07:14.0700000Z</dcterms:modified>
</coreProperties>
</file>